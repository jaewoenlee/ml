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77" r:id="rId2"/>
    <p:sldId id="278" r:id="rId3"/>
    <p:sldId id="279" r:id="rId4"/>
    <p:sldId id="288" r:id="rId5"/>
    <p:sldId id="266" r:id="rId6"/>
    <p:sldId id="257" r:id="rId7"/>
    <p:sldId id="267" r:id="rId8"/>
    <p:sldId id="265" r:id="rId9"/>
    <p:sldId id="263" r:id="rId10"/>
    <p:sldId id="289" r:id="rId11"/>
    <p:sldId id="470" r:id="rId12"/>
    <p:sldId id="262" r:id="rId13"/>
    <p:sldId id="256" r:id="rId14"/>
    <p:sldId id="258" r:id="rId15"/>
    <p:sldId id="259" r:id="rId16"/>
    <p:sldId id="261" r:id="rId17"/>
    <p:sldId id="264" r:id="rId18"/>
    <p:sldId id="260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60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= 1: (1 − ŷ)²</c:v>
                </c:pt>
              </c:strCache>
            </c:strRef>
          </c:tx>
          <c:spPr>
            <a:ln w="28575"/>
          </c:spPr>
          <c:marker>
            <c:symbol val="none"/>
          </c:marker>
          <c:xVal>
            <c:numRef>
              <c:f>Sheet1!$A$2:$A$102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0.28000000000000003</c:v>
                </c:pt>
                <c:pt idx="29">
                  <c:v>0.28999999999999998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0.55000000000000004</c:v>
                </c:pt>
                <c:pt idx="56">
                  <c:v>0.56000000000000005</c:v>
                </c:pt>
                <c:pt idx="57">
                  <c:v>0.56999999999999995</c:v>
                </c:pt>
                <c:pt idx="58">
                  <c:v>0.57999999999999996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Sheet1!$B$2:$B$102</c:f>
              <c:numCache>
                <c:formatCode>General</c:formatCode>
                <c:ptCount val="101"/>
                <c:pt idx="0">
                  <c:v>1</c:v>
                </c:pt>
                <c:pt idx="1">
                  <c:v>0.98009999999999997</c:v>
                </c:pt>
                <c:pt idx="2">
                  <c:v>0.96039999999999992</c:v>
                </c:pt>
                <c:pt idx="3">
                  <c:v>0.94089999999999996</c:v>
                </c:pt>
                <c:pt idx="4">
                  <c:v>0.92159999999999997</c:v>
                </c:pt>
                <c:pt idx="5">
                  <c:v>0.90249999999999997</c:v>
                </c:pt>
                <c:pt idx="6">
                  <c:v>0.88359999999999994</c:v>
                </c:pt>
                <c:pt idx="7">
                  <c:v>0.86489999999999989</c:v>
                </c:pt>
                <c:pt idx="8">
                  <c:v>0.84640000000000004</c:v>
                </c:pt>
                <c:pt idx="9">
                  <c:v>0.82810000000000006</c:v>
                </c:pt>
                <c:pt idx="10">
                  <c:v>0.81</c:v>
                </c:pt>
                <c:pt idx="11">
                  <c:v>0.79210000000000003</c:v>
                </c:pt>
                <c:pt idx="12">
                  <c:v>0.77439999999999998</c:v>
                </c:pt>
                <c:pt idx="13">
                  <c:v>0.75690000000000002</c:v>
                </c:pt>
                <c:pt idx="14">
                  <c:v>0.73959999999999992</c:v>
                </c:pt>
                <c:pt idx="15">
                  <c:v>0.72249999999999992</c:v>
                </c:pt>
                <c:pt idx="16">
                  <c:v>0.70559999999999989</c:v>
                </c:pt>
                <c:pt idx="17">
                  <c:v>0.68889999999999996</c:v>
                </c:pt>
                <c:pt idx="18">
                  <c:v>0.67240000000000011</c:v>
                </c:pt>
                <c:pt idx="19">
                  <c:v>0.65610000000000013</c:v>
                </c:pt>
                <c:pt idx="20">
                  <c:v>0.64000000000000012</c:v>
                </c:pt>
                <c:pt idx="21">
                  <c:v>0.6241000000000001</c:v>
                </c:pt>
                <c:pt idx="22">
                  <c:v>0.60840000000000005</c:v>
                </c:pt>
                <c:pt idx="23">
                  <c:v>0.59289999999999998</c:v>
                </c:pt>
                <c:pt idx="24">
                  <c:v>0.5776</c:v>
                </c:pt>
                <c:pt idx="25">
                  <c:v>0.5625</c:v>
                </c:pt>
                <c:pt idx="26">
                  <c:v>0.54759999999999998</c:v>
                </c:pt>
                <c:pt idx="27">
                  <c:v>0.53289999999999993</c:v>
                </c:pt>
                <c:pt idx="28">
                  <c:v>0.51839999999999997</c:v>
                </c:pt>
                <c:pt idx="29">
                  <c:v>0.50409999999999999</c:v>
                </c:pt>
                <c:pt idx="30">
                  <c:v>0.48999999999999994</c:v>
                </c:pt>
                <c:pt idx="31">
                  <c:v>0.47609999999999991</c:v>
                </c:pt>
                <c:pt idx="32">
                  <c:v>0.46239999999999992</c:v>
                </c:pt>
                <c:pt idx="33">
                  <c:v>0.44889999999999991</c:v>
                </c:pt>
                <c:pt idx="34">
                  <c:v>0.43559999999999988</c:v>
                </c:pt>
                <c:pt idx="35">
                  <c:v>0.42250000000000004</c:v>
                </c:pt>
                <c:pt idx="36">
                  <c:v>0.40960000000000002</c:v>
                </c:pt>
                <c:pt idx="37">
                  <c:v>0.39690000000000003</c:v>
                </c:pt>
                <c:pt idx="38">
                  <c:v>0.38440000000000002</c:v>
                </c:pt>
                <c:pt idx="39">
                  <c:v>0.37209999999999999</c:v>
                </c:pt>
                <c:pt idx="40">
                  <c:v>0.36</c:v>
                </c:pt>
                <c:pt idx="41">
                  <c:v>0.34810000000000008</c:v>
                </c:pt>
                <c:pt idx="42">
                  <c:v>0.33640000000000009</c:v>
                </c:pt>
                <c:pt idx="43">
                  <c:v>0.32490000000000008</c:v>
                </c:pt>
                <c:pt idx="44">
                  <c:v>0.31360000000000005</c:v>
                </c:pt>
                <c:pt idx="45">
                  <c:v>0.30250000000000005</c:v>
                </c:pt>
                <c:pt idx="46">
                  <c:v>0.29160000000000003</c:v>
                </c:pt>
                <c:pt idx="47">
                  <c:v>0.28090000000000004</c:v>
                </c:pt>
                <c:pt idx="48">
                  <c:v>0.27040000000000003</c:v>
                </c:pt>
                <c:pt idx="49">
                  <c:v>0.2601</c:v>
                </c:pt>
                <c:pt idx="50">
                  <c:v>0.25</c:v>
                </c:pt>
                <c:pt idx="51">
                  <c:v>0.24009999999999998</c:v>
                </c:pt>
                <c:pt idx="52">
                  <c:v>0.23039999999999999</c:v>
                </c:pt>
                <c:pt idx="53">
                  <c:v>0.22089999999999999</c:v>
                </c:pt>
                <c:pt idx="54">
                  <c:v>0.21159999999999995</c:v>
                </c:pt>
                <c:pt idx="55">
                  <c:v>0.20249999999999996</c:v>
                </c:pt>
                <c:pt idx="56">
                  <c:v>0.19359999999999997</c:v>
                </c:pt>
                <c:pt idx="57">
                  <c:v>0.18490000000000004</c:v>
                </c:pt>
                <c:pt idx="58">
                  <c:v>0.17640000000000003</c:v>
                </c:pt>
                <c:pt idx="59">
                  <c:v>0.16810000000000003</c:v>
                </c:pt>
                <c:pt idx="60">
                  <c:v>0.16000000000000003</c:v>
                </c:pt>
                <c:pt idx="61">
                  <c:v>0.15210000000000001</c:v>
                </c:pt>
                <c:pt idx="62">
                  <c:v>0.1444</c:v>
                </c:pt>
                <c:pt idx="63">
                  <c:v>0.13689999999999999</c:v>
                </c:pt>
                <c:pt idx="64">
                  <c:v>0.12959999999999999</c:v>
                </c:pt>
                <c:pt idx="65">
                  <c:v>0.12249999999999998</c:v>
                </c:pt>
                <c:pt idx="66">
                  <c:v>0.11559999999999998</c:v>
                </c:pt>
                <c:pt idx="67">
                  <c:v>0.10889999999999997</c:v>
                </c:pt>
                <c:pt idx="68">
                  <c:v>0.10239999999999996</c:v>
                </c:pt>
                <c:pt idx="69">
                  <c:v>9.6100000000000033E-2</c:v>
                </c:pt>
                <c:pt idx="70">
                  <c:v>9.0000000000000024E-2</c:v>
                </c:pt>
                <c:pt idx="71">
                  <c:v>8.4100000000000022E-2</c:v>
                </c:pt>
                <c:pt idx="72">
                  <c:v>7.8400000000000011E-2</c:v>
                </c:pt>
                <c:pt idx="73">
                  <c:v>7.2900000000000006E-2</c:v>
                </c:pt>
                <c:pt idx="74">
                  <c:v>6.7600000000000007E-2</c:v>
                </c:pt>
                <c:pt idx="75">
                  <c:v>6.25E-2</c:v>
                </c:pt>
                <c:pt idx="76">
                  <c:v>5.7599999999999998E-2</c:v>
                </c:pt>
                <c:pt idx="77">
                  <c:v>5.2899999999999989E-2</c:v>
                </c:pt>
                <c:pt idx="78">
                  <c:v>4.8399999999999992E-2</c:v>
                </c:pt>
                <c:pt idx="79">
                  <c:v>4.4099999999999986E-2</c:v>
                </c:pt>
                <c:pt idx="80">
                  <c:v>3.999999999999998E-2</c:v>
                </c:pt>
                <c:pt idx="81">
                  <c:v>3.6099999999999979E-2</c:v>
                </c:pt>
                <c:pt idx="82">
                  <c:v>3.2400000000000019E-2</c:v>
                </c:pt>
                <c:pt idx="83">
                  <c:v>2.8900000000000012E-2</c:v>
                </c:pt>
                <c:pt idx="84">
                  <c:v>2.5600000000000012E-2</c:v>
                </c:pt>
                <c:pt idx="85">
                  <c:v>2.2500000000000006E-2</c:v>
                </c:pt>
                <c:pt idx="86">
                  <c:v>1.9600000000000003E-2</c:v>
                </c:pt>
                <c:pt idx="87">
                  <c:v>1.6900000000000002E-2</c:v>
                </c:pt>
                <c:pt idx="88">
                  <c:v>1.44E-2</c:v>
                </c:pt>
                <c:pt idx="89">
                  <c:v>1.2099999999999998E-2</c:v>
                </c:pt>
                <c:pt idx="90">
                  <c:v>9.999999999999995E-3</c:v>
                </c:pt>
                <c:pt idx="91">
                  <c:v>8.0999999999999944E-3</c:v>
                </c:pt>
                <c:pt idx="92">
                  <c:v>6.3999999999999934E-3</c:v>
                </c:pt>
                <c:pt idx="93">
                  <c:v>4.8999999999999929E-3</c:v>
                </c:pt>
                <c:pt idx="94">
                  <c:v>3.6000000000000064E-3</c:v>
                </c:pt>
                <c:pt idx="95">
                  <c:v>2.5000000000000044E-3</c:v>
                </c:pt>
                <c:pt idx="96">
                  <c:v>1.6000000000000029E-3</c:v>
                </c:pt>
                <c:pt idx="97">
                  <c:v>9.000000000000016E-4</c:v>
                </c:pt>
                <c:pt idx="98">
                  <c:v>4.0000000000000072E-4</c:v>
                </c:pt>
                <c:pt idx="99">
                  <c:v>1.0000000000000018E-4</c:v>
                </c:pt>
                <c:pt idx="10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C68-4BDA-A3F9-97A87907AD16}"/>
            </c:ext>
          </c:extLst>
        </c:ser>
        <c:ser>
          <c:idx val="1"/>
          <c:order val="1"/>
          <c:tx>
            <c:strRef>
              <c:f>Sheet1!$B$104</c:f>
              <c:strCache>
                <c:ptCount val="1"/>
                <c:pt idx="0">
                  <c:v>y = 0: ŷ²</c:v>
                </c:pt>
              </c:strCache>
            </c:strRef>
          </c:tx>
          <c:spPr>
            <a:ln w="28575"/>
          </c:spPr>
          <c:marker>
            <c:symbol val="none"/>
          </c:marker>
          <c:xVal>
            <c:numRef>
              <c:f>Sheet1!$A$105:$A$205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0.28000000000000003</c:v>
                </c:pt>
                <c:pt idx="29">
                  <c:v>0.28999999999999998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0.55000000000000004</c:v>
                </c:pt>
                <c:pt idx="56">
                  <c:v>0.56000000000000005</c:v>
                </c:pt>
                <c:pt idx="57">
                  <c:v>0.56999999999999995</c:v>
                </c:pt>
                <c:pt idx="58">
                  <c:v>0.57999999999999996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Sheet1!$B$105:$B$205</c:f>
              <c:numCache>
                <c:formatCode>General</c:formatCode>
                <c:ptCount val="101"/>
                <c:pt idx="0">
                  <c:v>0</c:v>
                </c:pt>
                <c:pt idx="1">
                  <c:v>1E-4</c:v>
                </c:pt>
                <c:pt idx="2">
                  <c:v>4.0000000000000002E-4</c:v>
                </c:pt>
                <c:pt idx="3">
                  <c:v>8.9999999999999998E-4</c:v>
                </c:pt>
                <c:pt idx="4">
                  <c:v>1.6000000000000001E-3</c:v>
                </c:pt>
                <c:pt idx="5">
                  <c:v>2.5000000000000005E-3</c:v>
                </c:pt>
                <c:pt idx="6">
                  <c:v>3.5999999999999999E-3</c:v>
                </c:pt>
                <c:pt idx="7">
                  <c:v>4.9000000000000007E-3</c:v>
                </c:pt>
                <c:pt idx="8">
                  <c:v>6.4000000000000003E-3</c:v>
                </c:pt>
                <c:pt idx="9">
                  <c:v>8.0999999999999996E-3</c:v>
                </c:pt>
                <c:pt idx="10">
                  <c:v>1.0000000000000002E-2</c:v>
                </c:pt>
                <c:pt idx="11">
                  <c:v>1.21E-2</c:v>
                </c:pt>
                <c:pt idx="12">
                  <c:v>1.44E-2</c:v>
                </c:pt>
                <c:pt idx="13">
                  <c:v>1.6900000000000002E-2</c:v>
                </c:pt>
                <c:pt idx="14">
                  <c:v>1.9600000000000003E-2</c:v>
                </c:pt>
                <c:pt idx="15">
                  <c:v>2.2499999999999999E-2</c:v>
                </c:pt>
                <c:pt idx="16">
                  <c:v>2.5600000000000001E-2</c:v>
                </c:pt>
                <c:pt idx="17">
                  <c:v>2.8900000000000006E-2</c:v>
                </c:pt>
                <c:pt idx="18">
                  <c:v>3.2399999999999998E-2</c:v>
                </c:pt>
                <c:pt idx="19">
                  <c:v>3.61E-2</c:v>
                </c:pt>
                <c:pt idx="20">
                  <c:v>4.0000000000000008E-2</c:v>
                </c:pt>
                <c:pt idx="21">
                  <c:v>4.4099999999999993E-2</c:v>
                </c:pt>
                <c:pt idx="22">
                  <c:v>4.8399999999999999E-2</c:v>
                </c:pt>
                <c:pt idx="23">
                  <c:v>5.2900000000000003E-2</c:v>
                </c:pt>
                <c:pt idx="24">
                  <c:v>5.7599999999999998E-2</c:v>
                </c:pt>
                <c:pt idx="25">
                  <c:v>6.25E-2</c:v>
                </c:pt>
                <c:pt idx="26">
                  <c:v>6.7600000000000007E-2</c:v>
                </c:pt>
                <c:pt idx="27">
                  <c:v>7.2900000000000006E-2</c:v>
                </c:pt>
                <c:pt idx="28">
                  <c:v>7.8400000000000011E-2</c:v>
                </c:pt>
                <c:pt idx="29">
                  <c:v>8.4099999999999994E-2</c:v>
                </c:pt>
                <c:pt idx="30">
                  <c:v>0.09</c:v>
                </c:pt>
                <c:pt idx="31">
                  <c:v>9.6100000000000005E-2</c:v>
                </c:pt>
                <c:pt idx="32">
                  <c:v>0.1024</c:v>
                </c:pt>
                <c:pt idx="33">
                  <c:v>0.10890000000000001</c:v>
                </c:pt>
                <c:pt idx="34">
                  <c:v>0.11560000000000002</c:v>
                </c:pt>
                <c:pt idx="35">
                  <c:v>0.12249999999999998</c:v>
                </c:pt>
                <c:pt idx="36">
                  <c:v>0.12959999999999999</c:v>
                </c:pt>
                <c:pt idx="37">
                  <c:v>0.13689999999999999</c:v>
                </c:pt>
                <c:pt idx="38">
                  <c:v>0.1444</c:v>
                </c:pt>
                <c:pt idx="39">
                  <c:v>0.15210000000000001</c:v>
                </c:pt>
                <c:pt idx="40">
                  <c:v>0.16000000000000003</c:v>
                </c:pt>
                <c:pt idx="41">
                  <c:v>0.16809999999999997</c:v>
                </c:pt>
                <c:pt idx="42">
                  <c:v>0.17639999999999997</c:v>
                </c:pt>
                <c:pt idx="43">
                  <c:v>0.18489999999999998</c:v>
                </c:pt>
                <c:pt idx="44">
                  <c:v>0.19359999999999999</c:v>
                </c:pt>
                <c:pt idx="45">
                  <c:v>0.20250000000000001</c:v>
                </c:pt>
                <c:pt idx="46">
                  <c:v>0.21160000000000001</c:v>
                </c:pt>
                <c:pt idx="47">
                  <c:v>0.22089999999999999</c:v>
                </c:pt>
                <c:pt idx="48">
                  <c:v>0.23039999999999999</c:v>
                </c:pt>
                <c:pt idx="49">
                  <c:v>0.24009999999999998</c:v>
                </c:pt>
                <c:pt idx="50">
                  <c:v>0.25</c:v>
                </c:pt>
                <c:pt idx="51">
                  <c:v>0.2601</c:v>
                </c:pt>
                <c:pt idx="52">
                  <c:v>0.27040000000000003</c:v>
                </c:pt>
                <c:pt idx="53">
                  <c:v>0.28090000000000004</c:v>
                </c:pt>
                <c:pt idx="54">
                  <c:v>0.29160000000000003</c:v>
                </c:pt>
                <c:pt idx="55">
                  <c:v>0.30250000000000005</c:v>
                </c:pt>
                <c:pt idx="56">
                  <c:v>0.31360000000000005</c:v>
                </c:pt>
                <c:pt idx="57">
                  <c:v>0.32489999999999997</c:v>
                </c:pt>
                <c:pt idx="58">
                  <c:v>0.33639999999999998</c:v>
                </c:pt>
                <c:pt idx="59">
                  <c:v>0.34809999999999997</c:v>
                </c:pt>
                <c:pt idx="60">
                  <c:v>0.36</c:v>
                </c:pt>
                <c:pt idx="61">
                  <c:v>0.37209999999999999</c:v>
                </c:pt>
                <c:pt idx="62">
                  <c:v>0.38440000000000002</c:v>
                </c:pt>
                <c:pt idx="63">
                  <c:v>0.39690000000000003</c:v>
                </c:pt>
                <c:pt idx="64">
                  <c:v>0.40960000000000002</c:v>
                </c:pt>
                <c:pt idx="65">
                  <c:v>0.42250000000000004</c:v>
                </c:pt>
                <c:pt idx="66">
                  <c:v>0.43560000000000004</c:v>
                </c:pt>
                <c:pt idx="67">
                  <c:v>0.44890000000000008</c:v>
                </c:pt>
                <c:pt idx="68">
                  <c:v>0.46240000000000009</c:v>
                </c:pt>
                <c:pt idx="69">
                  <c:v>0.47609999999999991</c:v>
                </c:pt>
                <c:pt idx="70">
                  <c:v>0.48999999999999994</c:v>
                </c:pt>
                <c:pt idx="71">
                  <c:v>0.50409999999999999</c:v>
                </c:pt>
                <c:pt idx="72">
                  <c:v>0.51839999999999997</c:v>
                </c:pt>
                <c:pt idx="73">
                  <c:v>0.53289999999999993</c:v>
                </c:pt>
                <c:pt idx="74">
                  <c:v>0.54759999999999998</c:v>
                </c:pt>
                <c:pt idx="75">
                  <c:v>0.5625</c:v>
                </c:pt>
                <c:pt idx="76">
                  <c:v>0.5776</c:v>
                </c:pt>
                <c:pt idx="77">
                  <c:v>0.59289999999999998</c:v>
                </c:pt>
                <c:pt idx="78">
                  <c:v>0.60840000000000005</c:v>
                </c:pt>
                <c:pt idx="79">
                  <c:v>0.6241000000000001</c:v>
                </c:pt>
                <c:pt idx="80">
                  <c:v>0.64000000000000012</c:v>
                </c:pt>
                <c:pt idx="81">
                  <c:v>0.65610000000000013</c:v>
                </c:pt>
                <c:pt idx="82">
                  <c:v>0.67239999999999989</c:v>
                </c:pt>
                <c:pt idx="83">
                  <c:v>0.68889999999999996</c:v>
                </c:pt>
                <c:pt idx="84">
                  <c:v>0.70559999999999989</c:v>
                </c:pt>
                <c:pt idx="85">
                  <c:v>0.72249999999999992</c:v>
                </c:pt>
                <c:pt idx="86">
                  <c:v>0.73959999999999992</c:v>
                </c:pt>
                <c:pt idx="87">
                  <c:v>0.75690000000000002</c:v>
                </c:pt>
                <c:pt idx="88">
                  <c:v>0.77439999999999998</c:v>
                </c:pt>
                <c:pt idx="89">
                  <c:v>0.79210000000000003</c:v>
                </c:pt>
                <c:pt idx="90">
                  <c:v>0.81</c:v>
                </c:pt>
                <c:pt idx="91">
                  <c:v>0.82810000000000006</c:v>
                </c:pt>
                <c:pt idx="92">
                  <c:v>0.84640000000000004</c:v>
                </c:pt>
                <c:pt idx="93">
                  <c:v>0.86490000000000011</c:v>
                </c:pt>
                <c:pt idx="94">
                  <c:v>0.88359999999999994</c:v>
                </c:pt>
                <c:pt idx="95">
                  <c:v>0.90249999999999997</c:v>
                </c:pt>
                <c:pt idx="96">
                  <c:v>0.92159999999999997</c:v>
                </c:pt>
                <c:pt idx="97">
                  <c:v>0.94089999999999996</c:v>
                </c:pt>
                <c:pt idx="98">
                  <c:v>0.96039999999999992</c:v>
                </c:pt>
                <c:pt idx="99">
                  <c:v>0.98009999999999997</c:v>
                </c:pt>
                <c:pt idx="1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C68-4BDA-A3F9-97A87907AD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98593496"/>
        <c:axId val="398470472"/>
      </c:scatterChart>
      <c:valAx>
        <c:axId val="398593496"/>
        <c:scaling>
          <c:orientation val="minMax"/>
          <c:max val="1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cy-GB" sz="1500" b="1"/>
                  <a:t>예측 확률 ŷ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398470472"/>
        <c:crosses val="autoZero"/>
        <c:crossBetween val="midCat"/>
        <c:majorUnit val="0.2"/>
      </c:valAx>
      <c:valAx>
        <c:axId val="398470472"/>
        <c:scaling>
          <c:orientation val="minMax"/>
          <c:max val="1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 sz="1500" b="1"/>
                  <a:t>loss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398593496"/>
        <c:crosses val="autoZero"/>
        <c:crossBetween val="midCat"/>
        <c:majorUnit val="0.2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= 1: −log(ŷ)</c:v>
                </c:pt>
              </c:strCache>
            </c:strRef>
          </c:tx>
          <c:marker>
            <c:symbol val="none"/>
          </c:marker>
          <c:xVal>
            <c:numRef>
              <c:f>Sheet1!$A$2:$A$100</c:f>
              <c:numCache>
                <c:formatCode>General</c:formatCode>
                <c:ptCount val="99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0.06</c:v>
                </c:pt>
                <c:pt idx="6">
                  <c:v>7.0000000000000007E-2</c:v>
                </c:pt>
                <c:pt idx="7">
                  <c:v>0.08</c:v>
                </c:pt>
                <c:pt idx="8">
                  <c:v>0.09</c:v>
                </c:pt>
                <c:pt idx="9">
                  <c:v>0.1</c:v>
                </c:pt>
                <c:pt idx="10">
                  <c:v>0.11</c:v>
                </c:pt>
                <c:pt idx="11">
                  <c:v>0.12</c:v>
                </c:pt>
                <c:pt idx="12">
                  <c:v>0.13</c:v>
                </c:pt>
                <c:pt idx="13">
                  <c:v>0.14000000000000001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  <c:pt idx="17">
                  <c:v>0.18</c:v>
                </c:pt>
                <c:pt idx="18">
                  <c:v>0.19</c:v>
                </c:pt>
                <c:pt idx="19">
                  <c:v>0.2</c:v>
                </c:pt>
                <c:pt idx="20">
                  <c:v>0.21</c:v>
                </c:pt>
                <c:pt idx="21">
                  <c:v>0.22</c:v>
                </c:pt>
                <c:pt idx="22">
                  <c:v>0.23</c:v>
                </c:pt>
                <c:pt idx="23">
                  <c:v>0.24</c:v>
                </c:pt>
                <c:pt idx="24">
                  <c:v>0.25</c:v>
                </c:pt>
                <c:pt idx="25">
                  <c:v>0.26</c:v>
                </c:pt>
                <c:pt idx="26">
                  <c:v>0.27</c:v>
                </c:pt>
                <c:pt idx="27">
                  <c:v>0.28000000000000003</c:v>
                </c:pt>
                <c:pt idx="28">
                  <c:v>0.28999999999999998</c:v>
                </c:pt>
                <c:pt idx="29">
                  <c:v>0.3</c:v>
                </c:pt>
                <c:pt idx="30">
                  <c:v>0.31</c:v>
                </c:pt>
                <c:pt idx="31">
                  <c:v>0.32</c:v>
                </c:pt>
                <c:pt idx="32">
                  <c:v>0.33</c:v>
                </c:pt>
                <c:pt idx="33">
                  <c:v>0.34</c:v>
                </c:pt>
                <c:pt idx="34">
                  <c:v>0.35</c:v>
                </c:pt>
                <c:pt idx="35">
                  <c:v>0.36</c:v>
                </c:pt>
                <c:pt idx="36">
                  <c:v>0.37</c:v>
                </c:pt>
                <c:pt idx="37">
                  <c:v>0.38</c:v>
                </c:pt>
                <c:pt idx="38">
                  <c:v>0.39</c:v>
                </c:pt>
                <c:pt idx="39">
                  <c:v>0.4</c:v>
                </c:pt>
                <c:pt idx="40">
                  <c:v>0.41</c:v>
                </c:pt>
                <c:pt idx="41">
                  <c:v>0.42</c:v>
                </c:pt>
                <c:pt idx="42">
                  <c:v>0.43</c:v>
                </c:pt>
                <c:pt idx="43">
                  <c:v>0.44</c:v>
                </c:pt>
                <c:pt idx="44">
                  <c:v>0.45</c:v>
                </c:pt>
                <c:pt idx="45">
                  <c:v>0.46</c:v>
                </c:pt>
                <c:pt idx="46">
                  <c:v>0.47</c:v>
                </c:pt>
                <c:pt idx="47">
                  <c:v>0.48</c:v>
                </c:pt>
                <c:pt idx="48">
                  <c:v>0.49</c:v>
                </c:pt>
                <c:pt idx="49">
                  <c:v>0.5</c:v>
                </c:pt>
                <c:pt idx="50">
                  <c:v>0.51</c:v>
                </c:pt>
                <c:pt idx="51">
                  <c:v>0.52</c:v>
                </c:pt>
                <c:pt idx="52">
                  <c:v>0.53</c:v>
                </c:pt>
                <c:pt idx="53">
                  <c:v>0.54</c:v>
                </c:pt>
                <c:pt idx="54">
                  <c:v>0.55000000000000004</c:v>
                </c:pt>
                <c:pt idx="55">
                  <c:v>0.56000000000000005</c:v>
                </c:pt>
                <c:pt idx="56">
                  <c:v>0.56999999999999995</c:v>
                </c:pt>
                <c:pt idx="57">
                  <c:v>0.57999999999999996</c:v>
                </c:pt>
                <c:pt idx="58">
                  <c:v>0.59</c:v>
                </c:pt>
                <c:pt idx="59">
                  <c:v>0.6</c:v>
                </c:pt>
                <c:pt idx="60">
                  <c:v>0.61</c:v>
                </c:pt>
                <c:pt idx="61">
                  <c:v>0.62</c:v>
                </c:pt>
                <c:pt idx="62">
                  <c:v>0.63</c:v>
                </c:pt>
                <c:pt idx="63">
                  <c:v>0.64</c:v>
                </c:pt>
                <c:pt idx="64">
                  <c:v>0.65</c:v>
                </c:pt>
                <c:pt idx="65">
                  <c:v>0.66</c:v>
                </c:pt>
                <c:pt idx="66">
                  <c:v>0.67</c:v>
                </c:pt>
                <c:pt idx="67">
                  <c:v>0.68</c:v>
                </c:pt>
                <c:pt idx="68">
                  <c:v>0.69</c:v>
                </c:pt>
                <c:pt idx="69">
                  <c:v>0.7</c:v>
                </c:pt>
                <c:pt idx="70">
                  <c:v>0.71</c:v>
                </c:pt>
                <c:pt idx="71">
                  <c:v>0.72</c:v>
                </c:pt>
                <c:pt idx="72">
                  <c:v>0.73</c:v>
                </c:pt>
                <c:pt idx="73">
                  <c:v>0.74</c:v>
                </c:pt>
                <c:pt idx="74">
                  <c:v>0.75</c:v>
                </c:pt>
                <c:pt idx="75">
                  <c:v>0.76</c:v>
                </c:pt>
                <c:pt idx="76">
                  <c:v>0.77</c:v>
                </c:pt>
                <c:pt idx="77">
                  <c:v>0.78</c:v>
                </c:pt>
                <c:pt idx="78">
                  <c:v>0.79</c:v>
                </c:pt>
                <c:pt idx="79">
                  <c:v>0.8</c:v>
                </c:pt>
                <c:pt idx="80">
                  <c:v>0.81</c:v>
                </c:pt>
                <c:pt idx="81">
                  <c:v>0.82</c:v>
                </c:pt>
                <c:pt idx="82">
                  <c:v>0.83</c:v>
                </c:pt>
                <c:pt idx="83">
                  <c:v>0.84</c:v>
                </c:pt>
                <c:pt idx="84">
                  <c:v>0.85</c:v>
                </c:pt>
                <c:pt idx="85">
                  <c:v>0.86</c:v>
                </c:pt>
                <c:pt idx="86">
                  <c:v>0.87</c:v>
                </c:pt>
                <c:pt idx="87">
                  <c:v>0.88</c:v>
                </c:pt>
                <c:pt idx="88">
                  <c:v>0.89</c:v>
                </c:pt>
                <c:pt idx="89">
                  <c:v>0.9</c:v>
                </c:pt>
                <c:pt idx="90">
                  <c:v>0.91</c:v>
                </c:pt>
                <c:pt idx="91">
                  <c:v>0.92</c:v>
                </c:pt>
                <c:pt idx="92">
                  <c:v>0.93</c:v>
                </c:pt>
                <c:pt idx="93">
                  <c:v>0.94</c:v>
                </c:pt>
                <c:pt idx="94">
                  <c:v>0.95</c:v>
                </c:pt>
                <c:pt idx="95">
                  <c:v>0.96</c:v>
                </c:pt>
                <c:pt idx="96">
                  <c:v>0.97</c:v>
                </c:pt>
                <c:pt idx="97">
                  <c:v>0.98</c:v>
                </c:pt>
                <c:pt idx="98">
                  <c:v>0.99</c:v>
                </c:pt>
              </c:numCache>
            </c:numRef>
          </c:xVal>
          <c:yVal>
            <c:numRef>
              <c:f>Sheet1!$B$2:$B$100</c:f>
              <c:numCache>
                <c:formatCode>General</c:formatCode>
                <c:ptCount val="99"/>
                <c:pt idx="0">
                  <c:v>4.6051701859880909</c:v>
                </c:pt>
                <c:pt idx="1">
                  <c:v>3.912023005428146</c:v>
                </c:pt>
                <c:pt idx="2">
                  <c:v>3.5065578973199818</c:v>
                </c:pt>
                <c:pt idx="3">
                  <c:v>3.2188758248682006</c:v>
                </c:pt>
                <c:pt idx="4">
                  <c:v>2.9957322735539909</c:v>
                </c:pt>
                <c:pt idx="5">
                  <c:v>2.8134107167600364</c:v>
                </c:pt>
                <c:pt idx="6">
                  <c:v>2.6592600369327779</c:v>
                </c:pt>
                <c:pt idx="7">
                  <c:v>2.5257286443082556</c:v>
                </c:pt>
                <c:pt idx="8">
                  <c:v>2.4079456086518722</c:v>
                </c:pt>
                <c:pt idx="9">
                  <c:v>2.3025850929940455</c:v>
                </c:pt>
                <c:pt idx="10">
                  <c:v>2.2072749131897207</c:v>
                </c:pt>
                <c:pt idx="11">
                  <c:v>2.120263536200091</c:v>
                </c:pt>
                <c:pt idx="12">
                  <c:v>2.0402208285265546</c:v>
                </c:pt>
                <c:pt idx="13">
                  <c:v>1.9661128563728327</c:v>
                </c:pt>
                <c:pt idx="14">
                  <c:v>1.8971199848858813</c:v>
                </c:pt>
                <c:pt idx="15">
                  <c:v>1.8325814637483102</c:v>
                </c:pt>
                <c:pt idx="16">
                  <c:v>1.7719568419318752</c:v>
                </c:pt>
                <c:pt idx="17">
                  <c:v>1.7147984280919266</c:v>
                </c:pt>
                <c:pt idx="18">
                  <c:v>1.6607312068216509</c:v>
                </c:pt>
                <c:pt idx="19">
                  <c:v>1.6094379124341003</c:v>
                </c:pt>
                <c:pt idx="20">
                  <c:v>1.5606477482646683</c:v>
                </c:pt>
                <c:pt idx="21">
                  <c:v>1.5141277326297755</c:v>
                </c:pt>
                <c:pt idx="22">
                  <c:v>1.4696759700589417</c:v>
                </c:pt>
                <c:pt idx="23">
                  <c:v>1.4271163556401458</c:v>
                </c:pt>
                <c:pt idx="24">
                  <c:v>1.3862943611198906</c:v>
                </c:pt>
                <c:pt idx="25">
                  <c:v>1.3470736479666092</c:v>
                </c:pt>
                <c:pt idx="26">
                  <c:v>1.3093333199837622</c:v>
                </c:pt>
                <c:pt idx="27">
                  <c:v>1.2729656758128873</c:v>
                </c:pt>
                <c:pt idx="28">
                  <c:v>1.2378743560016174</c:v>
                </c:pt>
                <c:pt idx="29">
                  <c:v>1.2039728043259361</c:v>
                </c:pt>
                <c:pt idx="30">
                  <c:v>1.1711829815029451</c:v>
                </c:pt>
                <c:pt idx="31">
                  <c:v>1.1394342831883648</c:v>
                </c:pt>
                <c:pt idx="32">
                  <c:v>1.1086626245216111</c:v>
                </c:pt>
                <c:pt idx="33">
                  <c:v>1.0788096613719298</c:v>
                </c:pt>
                <c:pt idx="34">
                  <c:v>1.0498221244986778</c:v>
                </c:pt>
                <c:pt idx="35">
                  <c:v>1.0216512475319814</c:v>
                </c:pt>
                <c:pt idx="36">
                  <c:v>0.9942522733438669</c:v>
                </c:pt>
                <c:pt idx="37">
                  <c:v>0.96758402626170559</c:v>
                </c:pt>
                <c:pt idx="38">
                  <c:v>0.94160853985844495</c:v>
                </c:pt>
                <c:pt idx="39">
                  <c:v>0.916290731874155</c:v>
                </c:pt>
                <c:pt idx="40">
                  <c:v>0.89159811928378363</c:v>
                </c:pt>
                <c:pt idx="41">
                  <c:v>0.86750056770472306</c:v>
                </c:pt>
                <c:pt idx="42">
                  <c:v>0.84397007029452897</c:v>
                </c:pt>
                <c:pt idx="43">
                  <c:v>0.82098055206983023</c:v>
                </c:pt>
                <c:pt idx="44">
                  <c:v>0.79850769621777162</c:v>
                </c:pt>
                <c:pt idx="45">
                  <c:v>0.77652878949899629</c:v>
                </c:pt>
                <c:pt idx="46">
                  <c:v>0.75502258427803282</c:v>
                </c:pt>
                <c:pt idx="47">
                  <c:v>0.73396917508020043</c:v>
                </c:pt>
                <c:pt idx="48">
                  <c:v>0.71334988787746478</c:v>
                </c:pt>
                <c:pt idx="49">
                  <c:v>0.69314718055994529</c:v>
                </c:pt>
                <c:pt idx="50">
                  <c:v>0.67334455326376563</c:v>
                </c:pt>
                <c:pt idx="51">
                  <c:v>0.65392646740666394</c:v>
                </c:pt>
                <c:pt idx="52">
                  <c:v>0.6348782724359695</c:v>
                </c:pt>
                <c:pt idx="53">
                  <c:v>0.61618613942381695</c:v>
                </c:pt>
                <c:pt idx="54">
                  <c:v>0.59783700075562041</c:v>
                </c:pt>
                <c:pt idx="55">
                  <c:v>0.57981849525294205</c:v>
                </c:pt>
                <c:pt idx="56">
                  <c:v>0.56211891815354131</c:v>
                </c:pt>
                <c:pt idx="57">
                  <c:v>0.54472717544167215</c:v>
                </c:pt>
                <c:pt idx="58">
                  <c:v>0.52763274208237199</c:v>
                </c:pt>
                <c:pt idx="59">
                  <c:v>0.51082562376599072</c:v>
                </c:pt>
                <c:pt idx="60">
                  <c:v>0.49429632181478012</c:v>
                </c:pt>
                <c:pt idx="61">
                  <c:v>0.4780358009429998</c:v>
                </c:pt>
                <c:pt idx="62">
                  <c:v>0.46203545959655867</c:v>
                </c:pt>
                <c:pt idx="63">
                  <c:v>0.44628710262841947</c:v>
                </c:pt>
                <c:pt idx="64">
                  <c:v>0.43078291609245423</c:v>
                </c:pt>
                <c:pt idx="65">
                  <c:v>0.41551544396166579</c:v>
                </c:pt>
                <c:pt idx="66">
                  <c:v>0.40047756659712525</c:v>
                </c:pt>
                <c:pt idx="67">
                  <c:v>0.38566248081198462</c:v>
                </c:pt>
                <c:pt idx="68">
                  <c:v>0.37106368139083207</c:v>
                </c:pt>
                <c:pt idx="69">
                  <c:v>0.35667494393873245</c:v>
                </c:pt>
                <c:pt idx="70">
                  <c:v>0.34249030894677601</c:v>
                </c:pt>
                <c:pt idx="71">
                  <c:v>0.3285040669720361</c:v>
                </c:pt>
                <c:pt idx="72">
                  <c:v>0.31471074483970024</c:v>
                </c:pt>
                <c:pt idx="73">
                  <c:v>0.30110509278392161</c:v>
                </c:pt>
                <c:pt idx="74">
                  <c:v>0.2876820724517809</c:v>
                </c:pt>
                <c:pt idx="75">
                  <c:v>0.2744368457017603</c:v>
                </c:pt>
                <c:pt idx="76">
                  <c:v>0.26136476413440751</c:v>
                </c:pt>
                <c:pt idx="77">
                  <c:v>0.24846135929849961</c:v>
                </c:pt>
                <c:pt idx="78">
                  <c:v>0.23572233352106983</c:v>
                </c:pt>
                <c:pt idx="79">
                  <c:v>0.22314355131420971</c:v>
                </c:pt>
                <c:pt idx="80">
                  <c:v>0.21072103131565253</c:v>
                </c:pt>
                <c:pt idx="81">
                  <c:v>0.19845093872383832</c:v>
                </c:pt>
                <c:pt idx="82">
                  <c:v>0.18632957819149348</c:v>
                </c:pt>
                <c:pt idx="83">
                  <c:v>0.1743533871447778</c:v>
                </c:pt>
                <c:pt idx="84">
                  <c:v>0.16251892949777494</c:v>
                </c:pt>
                <c:pt idx="85">
                  <c:v>0.15082288973458366</c:v>
                </c:pt>
                <c:pt idx="86">
                  <c:v>0.13926206733350766</c:v>
                </c:pt>
                <c:pt idx="87">
                  <c:v>0.12783337150988489</c:v>
                </c:pt>
                <c:pt idx="88">
                  <c:v>0.11653381625595151</c:v>
                </c:pt>
                <c:pt idx="89">
                  <c:v>0.10536051565782628</c:v>
                </c:pt>
                <c:pt idx="90">
                  <c:v>9.431067947124129E-2</c:v>
                </c:pt>
                <c:pt idx="91">
                  <c:v>8.3381608939051013E-2</c:v>
                </c:pt>
                <c:pt idx="92">
                  <c:v>7.2570692834835374E-2</c:v>
                </c:pt>
                <c:pt idx="93">
                  <c:v>6.1875403718087529E-2</c:v>
                </c:pt>
                <c:pt idx="94">
                  <c:v>5.1293294387550578E-2</c:v>
                </c:pt>
                <c:pt idx="95">
                  <c:v>4.0821994520255166E-2</c:v>
                </c:pt>
                <c:pt idx="96">
                  <c:v>3.0459207484708574E-2</c:v>
                </c:pt>
                <c:pt idx="97">
                  <c:v>2.0202707317519466E-2</c:v>
                </c:pt>
                <c:pt idx="98">
                  <c:v>1.0050335853501451E-2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C77-407C-9FBB-61306768AA1D}"/>
            </c:ext>
          </c:extLst>
        </c:ser>
        <c:ser>
          <c:idx val="1"/>
          <c:order val="1"/>
          <c:tx>
            <c:strRef>
              <c:f>Sheet1!$B$102</c:f>
              <c:strCache>
                <c:ptCount val="1"/>
                <c:pt idx="0">
                  <c:v>y = 0: −log(1−ŷ)</c:v>
                </c:pt>
              </c:strCache>
            </c:strRef>
          </c:tx>
          <c:marker>
            <c:symbol val="none"/>
          </c:marker>
          <c:xVal>
            <c:numRef>
              <c:f>Sheet1!$A$103:$A$201</c:f>
              <c:numCache>
                <c:formatCode>General</c:formatCode>
                <c:ptCount val="99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0.06</c:v>
                </c:pt>
                <c:pt idx="6">
                  <c:v>7.0000000000000007E-2</c:v>
                </c:pt>
                <c:pt idx="7">
                  <c:v>0.08</c:v>
                </c:pt>
                <c:pt idx="8">
                  <c:v>0.09</c:v>
                </c:pt>
                <c:pt idx="9">
                  <c:v>0.1</c:v>
                </c:pt>
                <c:pt idx="10">
                  <c:v>0.11</c:v>
                </c:pt>
                <c:pt idx="11">
                  <c:v>0.12</c:v>
                </c:pt>
                <c:pt idx="12">
                  <c:v>0.13</c:v>
                </c:pt>
                <c:pt idx="13">
                  <c:v>0.14000000000000001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  <c:pt idx="17">
                  <c:v>0.18</c:v>
                </c:pt>
                <c:pt idx="18">
                  <c:v>0.19</c:v>
                </c:pt>
                <c:pt idx="19">
                  <c:v>0.2</c:v>
                </c:pt>
                <c:pt idx="20">
                  <c:v>0.21</c:v>
                </c:pt>
                <c:pt idx="21">
                  <c:v>0.22</c:v>
                </c:pt>
                <c:pt idx="22">
                  <c:v>0.23</c:v>
                </c:pt>
                <c:pt idx="23">
                  <c:v>0.24</c:v>
                </c:pt>
                <c:pt idx="24">
                  <c:v>0.25</c:v>
                </c:pt>
                <c:pt idx="25">
                  <c:v>0.26</c:v>
                </c:pt>
                <c:pt idx="26">
                  <c:v>0.27</c:v>
                </c:pt>
                <c:pt idx="27">
                  <c:v>0.28000000000000003</c:v>
                </c:pt>
                <c:pt idx="28">
                  <c:v>0.28999999999999998</c:v>
                </c:pt>
                <c:pt idx="29">
                  <c:v>0.3</c:v>
                </c:pt>
                <c:pt idx="30">
                  <c:v>0.31</c:v>
                </c:pt>
                <c:pt idx="31">
                  <c:v>0.32</c:v>
                </c:pt>
                <c:pt idx="32">
                  <c:v>0.33</c:v>
                </c:pt>
                <c:pt idx="33">
                  <c:v>0.34</c:v>
                </c:pt>
                <c:pt idx="34">
                  <c:v>0.35</c:v>
                </c:pt>
                <c:pt idx="35">
                  <c:v>0.36</c:v>
                </c:pt>
                <c:pt idx="36">
                  <c:v>0.37</c:v>
                </c:pt>
                <c:pt idx="37">
                  <c:v>0.38</c:v>
                </c:pt>
                <c:pt idx="38">
                  <c:v>0.39</c:v>
                </c:pt>
                <c:pt idx="39">
                  <c:v>0.4</c:v>
                </c:pt>
                <c:pt idx="40">
                  <c:v>0.41</c:v>
                </c:pt>
                <c:pt idx="41">
                  <c:v>0.42</c:v>
                </c:pt>
                <c:pt idx="42">
                  <c:v>0.43</c:v>
                </c:pt>
                <c:pt idx="43">
                  <c:v>0.44</c:v>
                </c:pt>
                <c:pt idx="44">
                  <c:v>0.45</c:v>
                </c:pt>
                <c:pt idx="45">
                  <c:v>0.46</c:v>
                </c:pt>
                <c:pt idx="46">
                  <c:v>0.47</c:v>
                </c:pt>
                <c:pt idx="47">
                  <c:v>0.48</c:v>
                </c:pt>
                <c:pt idx="48">
                  <c:v>0.49</c:v>
                </c:pt>
                <c:pt idx="49">
                  <c:v>0.5</c:v>
                </c:pt>
                <c:pt idx="50">
                  <c:v>0.51</c:v>
                </c:pt>
                <c:pt idx="51">
                  <c:v>0.52</c:v>
                </c:pt>
                <c:pt idx="52">
                  <c:v>0.53</c:v>
                </c:pt>
                <c:pt idx="53">
                  <c:v>0.54</c:v>
                </c:pt>
                <c:pt idx="54">
                  <c:v>0.55000000000000004</c:v>
                </c:pt>
                <c:pt idx="55">
                  <c:v>0.56000000000000005</c:v>
                </c:pt>
                <c:pt idx="56">
                  <c:v>0.56999999999999995</c:v>
                </c:pt>
                <c:pt idx="57">
                  <c:v>0.57999999999999996</c:v>
                </c:pt>
                <c:pt idx="58">
                  <c:v>0.59</c:v>
                </c:pt>
                <c:pt idx="59">
                  <c:v>0.6</c:v>
                </c:pt>
                <c:pt idx="60">
                  <c:v>0.61</c:v>
                </c:pt>
                <c:pt idx="61">
                  <c:v>0.62</c:v>
                </c:pt>
                <c:pt idx="62">
                  <c:v>0.63</c:v>
                </c:pt>
                <c:pt idx="63">
                  <c:v>0.64</c:v>
                </c:pt>
                <c:pt idx="64">
                  <c:v>0.65</c:v>
                </c:pt>
                <c:pt idx="65">
                  <c:v>0.66</c:v>
                </c:pt>
                <c:pt idx="66">
                  <c:v>0.67</c:v>
                </c:pt>
                <c:pt idx="67">
                  <c:v>0.68</c:v>
                </c:pt>
                <c:pt idx="68">
                  <c:v>0.69</c:v>
                </c:pt>
                <c:pt idx="69">
                  <c:v>0.7</c:v>
                </c:pt>
                <c:pt idx="70">
                  <c:v>0.71</c:v>
                </c:pt>
                <c:pt idx="71">
                  <c:v>0.72</c:v>
                </c:pt>
                <c:pt idx="72">
                  <c:v>0.73</c:v>
                </c:pt>
                <c:pt idx="73">
                  <c:v>0.74</c:v>
                </c:pt>
                <c:pt idx="74">
                  <c:v>0.75</c:v>
                </c:pt>
                <c:pt idx="75">
                  <c:v>0.76</c:v>
                </c:pt>
                <c:pt idx="76">
                  <c:v>0.77</c:v>
                </c:pt>
                <c:pt idx="77">
                  <c:v>0.78</c:v>
                </c:pt>
                <c:pt idx="78">
                  <c:v>0.79</c:v>
                </c:pt>
                <c:pt idx="79">
                  <c:v>0.8</c:v>
                </c:pt>
                <c:pt idx="80">
                  <c:v>0.81</c:v>
                </c:pt>
                <c:pt idx="81">
                  <c:v>0.82</c:v>
                </c:pt>
                <c:pt idx="82">
                  <c:v>0.83</c:v>
                </c:pt>
                <c:pt idx="83">
                  <c:v>0.84</c:v>
                </c:pt>
                <c:pt idx="84">
                  <c:v>0.85</c:v>
                </c:pt>
                <c:pt idx="85">
                  <c:v>0.86</c:v>
                </c:pt>
                <c:pt idx="86">
                  <c:v>0.87</c:v>
                </c:pt>
                <c:pt idx="87">
                  <c:v>0.88</c:v>
                </c:pt>
                <c:pt idx="88">
                  <c:v>0.89</c:v>
                </c:pt>
                <c:pt idx="89">
                  <c:v>0.9</c:v>
                </c:pt>
                <c:pt idx="90">
                  <c:v>0.91</c:v>
                </c:pt>
                <c:pt idx="91">
                  <c:v>0.92</c:v>
                </c:pt>
                <c:pt idx="92">
                  <c:v>0.93</c:v>
                </c:pt>
                <c:pt idx="93">
                  <c:v>0.94</c:v>
                </c:pt>
                <c:pt idx="94">
                  <c:v>0.95</c:v>
                </c:pt>
                <c:pt idx="95">
                  <c:v>0.96</c:v>
                </c:pt>
                <c:pt idx="96">
                  <c:v>0.97</c:v>
                </c:pt>
                <c:pt idx="97">
                  <c:v>0.98</c:v>
                </c:pt>
                <c:pt idx="98">
                  <c:v>0.99</c:v>
                </c:pt>
              </c:numCache>
            </c:numRef>
          </c:xVal>
          <c:yVal>
            <c:numRef>
              <c:f>Sheet1!$B$103:$B$201</c:f>
              <c:numCache>
                <c:formatCode>General</c:formatCode>
                <c:ptCount val="99"/>
                <c:pt idx="0">
                  <c:v>1.0050335853501451E-2</c:v>
                </c:pt>
                <c:pt idx="1">
                  <c:v>2.0202707317519466E-2</c:v>
                </c:pt>
                <c:pt idx="2">
                  <c:v>3.0459207484708574E-2</c:v>
                </c:pt>
                <c:pt idx="3">
                  <c:v>4.0821994520255166E-2</c:v>
                </c:pt>
                <c:pt idx="4">
                  <c:v>5.1293294387550578E-2</c:v>
                </c:pt>
                <c:pt idx="5">
                  <c:v>6.1875403718087529E-2</c:v>
                </c:pt>
                <c:pt idx="6">
                  <c:v>7.2570692834835498E-2</c:v>
                </c:pt>
                <c:pt idx="7">
                  <c:v>8.3381608939051013E-2</c:v>
                </c:pt>
                <c:pt idx="8">
                  <c:v>9.431067947124129E-2</c:v>
                </c:pt>
                <c:pt idx="9">
                  <c:v>0.10536051565782628</c:v>
                </c:pt>
                <c:pt idx="10">
                  <c:v>0.11653381625595151</c:v>
                </c:pt>
                <c:pt idx="11">
                  <c:v>0.12783337150988489</c:v>
                </c:pt>
                <c:pt idx="12">
                  <c:v>0.13926206733350766</c:v>
                </c:pt>
                <c:pt idx="13">
                  <c:v>0.15082288973458366</c:v>
                </c:pt>
                <c:pt idx="14">
                  <c:v>0.16251892949777494</c:v>
                </c:pt>
                <c:pt idx="15">
                  <c:v>0.1743533871447778</c:v>
                </c:pt>
                <c:pt idx="16">
                  <c:v>0.18632957819149348</c:v>
                </c:pt>
                <c:pt idx="17">
                  <c:v>0.19845093872383818</c:v>
                </c:pt>
                <c:pt idx="18">
                  <c:v>0.21072103131565253</c:v>
                </c:pt>
                <c:pt idx="19">
                  <c:v>0.22314355131420971</c:v>
                </c:pt>
                <c:pt idx="20">
                  <c:v>0.23572233352106983</c:v>
                </c:pt>
                <c:pt idx="21">
                  <c:v>0.24846135929849961</c:v>
                </c:pt>
                <c:pt idx="22">
                  <c:v>0.26136476413440751</c:v>
                </c:pt>
                <c:pt idx="23">
                  <c:v>0.2744368457017603</c:v>
                </c:pt>
                <c:pt idx="24">
                  <c:v>0.2876820724517809</c:v>
                </c:pt>
                <c:pt idx="25">
                  <c:v>0.30110509278392161</c:v>
                </c:pt>
                <c:pt idx="26">
                  <c:v>0.31471074483970024</c:v>
                </c:pt>
                <c:pt idx="27">
                  <c:v>0.3285040669720361</c:v>
                </c:pt>
                <c:pt idx="28">
                  <c:v>0.34249030894677601</c:v>
                </c:pt>
                <c:pt idx="29">
                  <c:v>0.35667494393873245</c:v>
                </c:pt>
                <c:pt idx="30">
                  <c:v>0.37106368139083207</c:v>
                </c:pt>
                <c:pt idx="31">
                  <c:v>0.38566248081198479</c:v>
                </c:pt>
                <c:pt idx="32">
                  <c:v>0.40047756659712541</c:v>
                </c:pt>
                <c:pt idx="33">
                  <c:v>0.41551544396166595</c:v>
                </c:pt>
                <c:pt idx="34">
                  <c:v>0.43078291609245423</c:v>
                </c:pt>
                <c:pt idx="35">
                  <c:v>0.44628710262841947</c:v>
                </c:pt>
                <c:pt idx="36">
                  <c:v>0.46203545959655867</c:v>
                </c:pt>
                <c:pt idx="37">
                  <c:v>0.4780358009429998</c:v>
                </c:pt>
                <c:pt idx="38">
                  <c:v>0.49429632181478012</c:v>
                </c:pt>
                <c:pt idx="39">
                  <c:v>0.51082562376599072</c:v>
                </c:pt>
                <c:pt idx="40">
                  <c:v>0.52763274208237176</c:v>
                </c:pt>
                <c:pt idx="41">
                  <c:v>0.54472717544167193</c:v>
                </c:pt>
                <c:pt idx="42">
                  <c:v>0.56211891815354109</c:v>
                </c:pt>
                <c:pt idx="43">
                  <c:v>0.57981849525294205</c:v>
                </c:pt>
                <c:pt idx="44">
                  <c:v>0.59783700075562041</c:v>
                </c:pt>
                <c:pt idx="45">
                  <c:v>0.61618613942381695</c:v>
                </c:pt>
                <c:pt idx="46">
                  <c:v>0.6348782724359695</c:v>
                </c:pt>
                <c:pt idx="47">
                  <c:v>0.65392646740666394</c:v>
                </c:pt>
                <c:pt idx="48">
                  <c:v>0.67334455326376563</c:v>
                </c:pt>
                <c:pt idx="49">
                  <c:v>0.69314718055994529</c:v>
                </c:pt>
                <c:pt idx="50">
                  <c:v>0.71334988787746478</c:v>
                </c:pt>
                <c:pt idx="51">
                  <c:v>0.73396917508020043</c:v>
                </c:pt>
                <c:pt idx="52">
                  <c:v>0.75502258427803282</c:v>
                </c:pt>
                <c:pt idx="53">
                  <c:v>0.7765287894989964</c:v>
                </c:pt>
                <c:pt idx="54">
                  <c:v>0.79850769621777173</c:v>
                </c:pt>
                <c:pt idx="55">
                  <c:v>0.82098055206983034</c:v>
                </c:pt>
                <c:pt idx="56">
                  <c:v>0.84397007029452886</c:v>
                </c:pt>
                <c:pt idx="57">
                  <c:v>0.86750056770472295</c:v>
                </c:pt>
                <c:pt idx="58">
                  <c:v>0.89159811928378352</c:v>
                </c:pt>
                <c:pt idx="59">
                  <c:v>0.916290731874155</c:v>
                </c:pt>
                <c:pt idx="60">
                  <c:v>0.94160853985844495</c:v>
                </c:pt>
                <c:pt idx="61">
                  <c:v>0.96758402626170559</c:v>
                </c:pt>
                <c:pt idx="62">
                  <c:v>0.9942522733438669</c:v>
                </c:pt>
                <c:pt idx="63">
                  <c:v>1.0216512475319814</c:v>
                </c:pt>
                <c:pt idx="64">
                  <c:v>1.0498221244986778</c:v>
                </c:pt>
                <c:pt idx="65">
                  <c:v>1.07880966137193</c:v>
                </c:pt>
                <c:pt idx="66">
                  <c:v>1.1086626245216114</c:v>
                </c:pt>
                <c:pt idx="67">
                  <c:v>1.139434283188365</c:v>
                </c:pt>
                <c:pt idx="68">
                  <c:v>1.1711829815029449</c:v>
                </c:pt>
                <c:pt idx="69">
                  <c:v>1.2039728043259359</c:v>
                </c:pt>
                <c:pt idx="70">
                  <c:v>1.2378743560016172</c:v>
                </c:pt>
                <c:pt idx="71">
                  <c:v>1.2729656758128873</c:v>
                </c:pt>
                <c:pt idx="72">
                  <c:v>1.3093333199837622</c:v>
                </c:pt>
                <c:pt idx="73">
                  <c:v>1.3470736479666092</c:v>
                </c:pt>
                <c:pt idx="74">
                  <c:v>1.3862943611198906</c:v>
                </c:pt>
                <c:pt idx="75">
                  <c:v>1.4271163556401458</c:v>
                </c:pt>
                <c:pt idx="76">
                  <c:v>1.4696759700589417</c:v>
                </c:pt>
                <c:pt idx="77">
                  <c:v>1.5141277326297757</c:v>
                </c:pt>
                <c:pt idx="78">
                  <c:v>1.5606477482646686</c:v>
                </c:pt>
                <c:pt idx="79">
                  <c:v>1.6094379124341005</c:v>
                </c:pt>
                <c:pt idx="80">
                  <c:v>1.6607312068216511</c:v>
                </c:pt>
                <c:pt idx="81">
                  <c:v>1.7147984280919264</c:v>
                </c:pt>
                <c:pt idx="82">
                  <c:v>1.771956841931875</c:v>
                </c:pt>
                <c:pt idx="83">
                  <c:v>1.83258146374831</c:v>
                </c:pt>
                <c:pt idx="84">
                  <c:v>1.8971199848858811</c:v>
                </c:pt>
                <c:pt idx="85">
                  <c:v>1.9661128563728327</c:v>
                </c:pt>
                <c:pt idx="86">
                  <c:v>2.0402208285265546</c:v>
                </c:pt>
                <c:pt idx="87">
                  <c:v>2.120263536200091</c:v>
                </c:pt>
                <c:pt idx="88">
                  <c:v>2.2072749131897211</c:v>
                </c:pt>
                <c:pt idx="89">
                  <c:v>2.3025850929940459</c:v>
                </c:pt>
                <c:pt idx="90">
                  <c:v>2.4079456086518722</c:v>
                </c:pt>
                <c:pt idx="91">
                  <c:v>2.5257286443082561</c:v>
                </c:pt>
                <c:pt idx="92">
                  <c:v>2.6592600369327788</c:v>
                </c:pt>
                <c:pt idx="93">
                  <c:v>2.8134107167600355</c:v>
                </c:pt>
                <c:pt idx="94">
                  <c:v>2.99573227355399</c:v>
                </c:pt>
                <c:pt idx="95">
                  <c:v>3.2188758248681997</c:v>
                </c:pt>
                <c:pt idx="96">
                  <c:v>3.5065578973199809</c:v>
                </c:pt>
                <c:pt idx="97">
                  <c:v>3.9120230054281451</c:v>
                </c:pt>
                <c:pt idx="98">
                  <c:v>4.6051701859880909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C77-407C-9FBB-61306768AA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99079592"/>
        <c:axId val="399079976"/>
      </c:scatterChart>
      <c:valAx>
        <c:axId val="399079592"/>
        <c:scaling>
          <c:orientation val="minMax"/>
          <c:max val="1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US" dirty="0"/>
                  <a:t>prediction</a:t>
                </a:r>
                <a:r>
                  <a:rPr lang="cy-GB" dirty="0"/>
                  <a:t> ŷ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399079976"/>
        <c:crosses val="autoZero"/>
        <c:crossBetween val="midCat"/>
      </c:valAx>
      <c:valAx>
        <c:axId val="399079976"/>
        <c:scaling>
          <c:orientation val="minMax"/>
          <c:max val="5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/>
                  <a:t>loss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399079592"/>
        <c:crosses val="autoZero"/>
        <c:crossBetween val="midCat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550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97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1767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3171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6324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80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2629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803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938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998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43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6C08FC3D-8D2C-4B5B-86D9-0701C0C9885D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6667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1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0"/>
            <a:ext cx="73215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3"/>
          <p:cNvSpPr txBox="1">
            <a:spLocks noChangeArrowheads="1"/>
          </p:cNvSpPr>
          <p:nvPr/>
        </p:nvSpPr>
        <p:spPr bwMode="auto">
          <a:xfrm>
            <a:off x="2051050" y="2349500"/>
            <a:ext cx="44450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latinLnBrk="1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바탕체" panose="02030609000101010101" pitchFamily="17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바탕체" panose="02030609000101010101" pitchFamily="17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바탕체" panose="02030609000101010101" pitchFamily="17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바탕체" panose="02030609000101010101" pitchFamily="17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바탕체" panose="02030609000101010101" pitchFamily="17" charset="-127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4000" dirty="0">
                <a:solidFill>
                  <a:srgbClr val="FF0000"/>
                </a:solidFill>
                <a:latin typeface="Arial" panose="020B0600000101010101" pitchFamily="50" charset="-127"/>
                <a:ea typeface="굴림" panose="020B0600000101010101" pitchFamily="50" charset="-127"/>
              </a:rPr>
              <a:t>        x1  w1       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4000" dirty="0">
                <a:solidFill>
                  <a:srgbClr val="FF0000"/>
                </a:solidFill>
                <a:latin typeface="Arial" panose="020B0600000101010101" pitchFamily="50" charset="-127"/>
                <a:ea typeface="굴림" panose="020B0600000101010101" pitchFamily="50" charset="-127"/>
              </a:rPr>
              <a:t>                    b  f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4000" dirty="0">
                <a:solidFill>
                  <a:srgbClr val="FF0000"/>
                </a:solidFill>
                <a:latin typeface="Arial" panose="020B0600000101010101" pitchFamily="50" charset="-127"/>
                <a:ea typeface="굴림" panose="020B0600000101010101" pitchFamily="50" charset="-127"/>
              </a:rPr>
              <a:t>      x2      w2</a:t>
            </a:r>
            <a:endParaRPr lang="ko-KR" altLang="en-US" sz="4000" dirty="0">
              <a:solidFill>
                <a:srgbClr val="FF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aphicFrame>
        <p:nvGraphicFramePr>
          <p:cNvPr id="5" name="Object 9"/>
          <p:cNvGraphicFramePr>
            <a:graphicFrameLocks noChangeAspect="1"/>
          </p:cNvGraphicFramePr>
          <p:nvPr/>
        </p:nvGraphicFramePr>
        <p:xfrm>
          <a:off x="6572250" y="1414463"/>
          <a:ext cx="25717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Equation" r:id="rId4" imgW="1143000" imgH="254000" progId="Equation.DSMT4">
                  <p:embed/>
                </p:oleObj>
              </mc:Choice>
              <mc:Fallback>
                <p:oleObj name="Equation" r:id="rId4" imgW="1143000" imgH="2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0" y="1414463"/>
                        <a:ext cx="25717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2905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그림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2744788"/>
            <a:ext cx="5292725" cy="397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그림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142875"/>
            <a:ext cx="6024563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그림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3789363"/>
            <a:ext cx="2490787" cy="212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663933" y="2785031"/>
            <a:ext cx="1800493" cy="369332"/>
          </a:xfrm>
          <a:prstGeom prst="rect">
            <a:avLst/>
          </a:prstGeom>
          <a:noFill/>
        </p:spPr>
        <p:txBody>
          <a:bodyPr wrap="square" rtlCol="0">
            <a:normAutofit fontScale="77500" lnSpcReduction="20000"/>
          </a:bodyPr>
          <a:lstStyle/>
          <a:p>
            <a:r>
              <a:rPr lang="ko-KR" altLang="en-US" dirty="0">
                <a:latin typeface="Arial"/>
              </a:rPr>
              <a:t>Training completed!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9821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defRPr/>
            </a:pPr>
            <a:r>
              <a:rPr lang="en-US" altLang="ko-KR" dirty="0">
                <a:solidFill>
                  <a:srgbClr val="E06361"/>
                </a:solidFill>
                <a:latin typeface="Arial"/>
                <a:ea typeface="나눔고딕" panose="020D0604000000000000" pitchFamily="50" charset="-127"/>
              </a:rPr>
              <a:t>3. Solving the XOR Problem</a:t>
            </a:r>
            <a:endParaRPr lang="ko-KR" altLang="en-US" dirty="0">
              <a:latin typeface="+mn-lt"/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475" y="1105393"/>
            <a:ext cx="8278813" cy="4964113"/>
          </a:xfrm>
        </p:spPr>
        <p:txBody>
          <a:bodyPr wrap="square">
            <a:normAutofit/>
          </a:bodyPr>
          <a:lstStyle/>
          <a:p>
            <a:pPr>
              <a:defRPr/>
            </a:pPr>
            <a:r>
              <a:rPr lang="en-US" altLang="ko-KR" sz="2000" b="1" dirty="0">
                <a:latin typeface="Arial"/>
                <a:ea typeface="나눔고딕" panose="020D0604000000000000" pitchFamily="50" charset="-127"/>
              </a:rPr>
              <a:t>Solving the XOR problem</a:t>
            </a:r>
            <a:endParaRPr lang="en-US" altLang="ko-KR" sz="2000" dirty="0">
              <a:ea typeface="나눔고딕" panose="020D0604000000000000" pitchFamily="50" charset="-127"/>
            </a:endParaRPr>
          </a:p>
          <a:p>
            <a:r>
              <a:rPr lang="en-US" altLang="ko-KR" sz="2000" b="1" dirty="0">
                <a:latin typeface="Arial"/>
                <a:ea typeface="나눔고딕" panose="020D0604000000000000" pitchFamily="50" charset="-127"/>
              </a:rPr>
              <a:t>Assign the following parameters and examine how a multilayer perceptron solves XOR.</a:t>
            </a:r>
          </a:p>
        </p:txBody>
      </p:sp>
      <p:pic>
        <p:nvPicPr>
          <p:cNvPr id="13316" name="그림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3263" y="2162175"/>
            <a:ext cx="2657475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제목 1"/>
          <p:cNvSpPr txBox="1">
            <a:spLocks/>
          </p:cNvSpPr>
          <p:nvPr/>
        </p:nvSpPr>
        <p:spPr>
          <a:xfrm>
            <a:off x="1057275" y="3313113"/>
            <a:ext cx="8081963" cy="401637"/>
          </a:xfrm>
          <a:prstGeom prst="rect">
            <a:avLst/>
          </a:prstGeom>
        </p:spPr>
        <p:txBody>
          <a:bodyPr wrap="square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pPr>
              <a:defRPr/>
            </a:pPr>
            <a:r>
              <a:rPr lang="ko-KR" altLang="ko-KR" sz="1600" dirty="0">
                <a:latin typeface="Arial"/>
                <a:ea typeface="나눔고딕" panose="020D0604000000000000" pitchFamily="50" charset="-127"/>
              </a:rPr>
              <a:t>▼ Figure 8-6 | Parameters inside a multilayer perceptron</a:t>
            </a:r>
            <a:endParaRPr lang="ko-KR" altLang="en-US" sz="1600" dirty="0">
              <a:latin typeface="+mn-lt"/>
              <a:ea typeface="KoPub돋움체_Pro Medium" pitchFamily="18" charset="-127"/>
            </a:endParaRPr>
          </a:p>
        </p:txBody>
      </p:sp>
      <p:pic>
        <p:nvPicPr>
          <p:cNvPr id="13318" name="그림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3716338"/>
            <a:ext cx="3517900" cy="288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9" name="그림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0738" y="3760788"/>
            <a:ext cx="2598737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10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white_slide_infographic_with_minimal_pa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5883"/>
            <a:ext cx="9144000" cy="5146234"/>
          </a:xfrm>
          <a:prstGeom prst="rect">
            <a:avLst/>
          </a:prstGeom>
        </p:spPr>
      </p:pic>
      <p:sp>
        <p:nvSpPr>
          <p:cNvPr id="3" name="Text 12"/>
          <p:cNvSpPr/>
          <p:nvPr/>
        </p:nvSpPr>
        <p:spPr>
          <a:xfrm>
            <a:off x="3727478" y="3994175"/>
            <a:ext cx="1076417" cy="17830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183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ŷᵢ = σ(zᵢ)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54352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white_slide_infographic_with_minimal_pa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5883"/>
            <a:ext cx="9144000" cy="5146234"/>
          </a:xfrm>
          <a:prstGeom prst="rect">
            <a:avLst/>
          </a:prstGeom>
        </p:spPr>
      </p:pic>
      <p:sp>
        <p:nvSpPr>
          <p:cNvPr id="3" name="Text 12"/>
          <p:cNvSpPr/>
          <p:nvPr/>
        </p:nvSpPr>
        <p:spPr>
          <a:xfrm>
            <a:off x="3727478" y="3994175"/>
            <a:ext cx="1076417" cy="17830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183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ŷᵢ = σ(zᵢ)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6D9C2C-C66B-4F82-9637-38B4D099902A}"/>
                  </a:ext>
                </a:extLst>
              </p:cNvPr>
              <p:cNvSpPr txBox="1"/>
              <p:nvPr/>
            </p:nvSpPr>
            <p:spPr>
              <a:xfrm>
                <a:off x="5262189" y="5370746"/>
                <a:ext cx="13803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6D9C2C-C66B-4F82-9637-38B4D0999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2189" y="5370746"/>
                <a:ext cx="1380378" cy="276999"/>
              </a:xfrm>
              <a:prstGeom prst="rect">
                <a:avLst/>
              </a:prstGeom>
              <a:blipFill>
                <a:blip r:embed="rId3"/>
                <a:stretch>
                  <a:fillRect l="-2203" t="-20000" r="-17181" b="-4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7279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93408"/>
            <a:ext cx="9144000" cy="16459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dirty="0" err="1">
                <a:latin typeface="Arial"/>
              </a:rPr>
              <a:t>Model and Chain Rule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293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dirty="0" err="1">
                <a:latin typeface="DejaVu Sans"/>
              </a:rPr>
              <a:t>Computational path from input vector xᵢ to loss L</a:t>
            </a:r>
            <a:endParaRPr dirty="0">
              <a:latin typeface="NanumGothic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783080" y="2788920"/>
            <a:ext cx="64008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703320" y="2788920"/>
            <a:ext cx="64008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623560" y="2788920"/>
            <a:ext cx="64008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48640" y="2304288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F4F6F8"/>
          </a:solidFill>
          <a:ln w="12700">
            <a:solidFill>
              <a:srgbClr val="CAD2DA">
                <a:alpha val="9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21792" y="2414016"/>
            <a:ext cx="10881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DejaVu Sans"/>
              </a:rPr>
              <a:t>xᵢⱼ</a:t>
            </a:r>
          </a:p>
          <a:p>
            <a:r>
              <a:rPr>
                <a:latin typeface="Arial"/>
              </a:rPr>
              <a:t>j-th input</a:t>
            </a:r>
          </a:p>
        </p:txBody>
      </p:sp>
      <p:sp>
        <p:nvSpPr>
          <p:cNvPr id="11" name="Shape 9"/>
          <p:cNvSpPr/>
          <p:nvPr/>
        </p:nvSpPr>
        <p:spPr>
          <a:xfrm>
            <a:off x="2423160" y="2304288"/>
            <a:ext cx="1280160" cy="960120"/>
          </a:xfrm>
          <a:prstGeom prst="roundRect">
            <a:avLst>
              <a:gd name="adj" fmla="val 7619"/>
            </a:avLst>
          </a:prstGeom>
          <a:solidFill>
            <a:srgbClr val="E8F1FF"/>
          </a:solidFill>
          <a:ln w="12700">
            <a:solidFill>
              <a:srgbClr val="BED8FF">
                <a:alpha val="9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496312" y="2414016"/>
            <a:ext cx="113385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dirty="0">
                <a:latin typeface="DejaVu Sans"/>
              </a:rPr>
              <a:t>zᵢ =</a:t>
            </a:r>
            <a:endParaRPr lang="en-US" altLang="ko-KR" dirty="0">
              <a:latin typeface="DejaVu Sans"/>
            </a:endParaRPr>
          </a:p>
          <a:p>
            <a:r>
              <a:rPr dirty="0">
                <a:latin typeface="DejaVu Sans"/>
              </a:rPr>
              <a:t> Σₖ wₖ xᵢₖ + b</a:t>
            </a:r>
          </a:p>
        </p:txBody>
      </p:sp>
      <p:sp>
        <p:nvSpPr>
          <p:cNvPr id="13" name="Shape 11"/>
          <p:cNvSpPr/>
          <p:nvPr/>
        </p:nvSpPr>
        <p:spPr>
          <a:xfrm>
            <a:off x="4343400" y="2304288"/>
            <a:ext cx="1280160" cy="960120"/>
          </a:xfrm>
          <a:prstGeom prst="roundRect">
            <a:avLst>
              <a:gd name="adj" fmla="val 7619"/>
            </a:avLst>
          </a:prstGeom>
          <a:solidFill>
            <a:srgbClr val="E7F7EF"/>
          </a:solidFill>
          <a:ln w="12700">
            <a:solidFill>
              <a:srgbClr val="A8E2C1">
                <a:alpha val="9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416552" y="2414016"/>
            <a:ext cx="113385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000">
                <a:latin typeface="DejaVu Sans"/>
              </a:rPr>
              <a:t>ŷᵢ = σ(zᵢ)</a:t>
            </a:r>
          </a:p>
        </p:txBody>
      </p:sp>
      <p:sp>
        <p:nvSpPr>
          <p:cNvPr id="15" name="Shape 13"/>
          <p:cNvSpPr/>
          <p:nvPr/>
        </p:nvSpPr>
        <p:spPr>
          <a:xfrm>
            <a:off x="6263640" y="2304288"/>
            <a:ext cx="2619102" cy="960120"/>
          </a:xfrm>
          <a:prstGeom prst="roundRect">
            <a:avLst>
              <a:gd name="adj" fmla="val 7619"/>
            </a:avLst>
          </a:prstGeom>
          <a:solidFill>
            <a:srgbClr val="FFF7ED"/>
          </a:solidFill>
          <a:ln w="12700">
            <a:solidFill>
              <a:srgbClr val="FED7AA">
                <a:alpha val="9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336791" y="2414016"/>
            <a:ext cx="2545951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000" dirty="0">
                <a:latin typeface="DejaVu Sans"/>
              </a:rPr>
              <a:t>L = </a:t>
            </a:r>
            <a:endParaRPr lang="en-US" altLang="ko-KR" sz="2000" dirty="0">
              <a:latin typeface="DejaVu Sans"/>
            </a:endParaRPr>
          </a:p>
          <a:p>
            <a:r>
              <a:rPr sz="2000" dirty="0">
                <a:latin typeface="DejaVu Sans"/>
              </a:rPr>
              <a:t>(1/n) Σᵢ(ŷᵢ − yᵢ)²</a:t>
            </a:r>
          </a:p>
        </p:txBody>
      </p:sp>
      <p:sp>
        <p:nvSpPr>
          <p:cNvPr id="17" name="Shape 15"/>
          <p:cNvSpPr/>
          <p:nvPr/>
        </p:nvSpPr>
        <p:spPr>
          <a:xfrm>
            <a:off x="1234440" y="4224521"/>
            <a:ext cx="6675120" cy="960119"/>
          </a:xfrm>
          <a:prstGeom prst="roundRect">
            <a:avLst>
              <a:gd name="adj" fmla="val 9756"/>
            </a:avLst>
          </a:prstGeom>
          <a:solidFill>
            <a:srgbClr val="F1ECFF"/>
          </a:solidFill>
          <a:ln w="12700">
            <a:solidFill>
              <a:srgbClr val="D8B4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417320" y="4443984"/>
            <a:ext cx="630936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2800" dirty="0" err="1">
                <a:latin typeface="Arial"/>
              </a:rPr>
              <a:t>dL</a:t>
            </a:r>
            <a:r>
              <a:rPr sz="2800" dirty="0">
                <a:latin typeface="Arial"/>
              </a:rPr>
              <a:t>/</a:t>
            </a:r>
            <a:r>
              <a:rPr sz="2800" dirty="0" err="1">
                <a:latin typeface="Arial"/>
              </a:rPr>
              <a:t>dw</a:t>
            </a:r>
            <a:r>
              <a:rPr sz="2800" dirty="0">
                <a:latin typeface="DejaVu Sans"/>
              </a:rPr>
              <a:t>ⱼ = Σᵢ (</a:t>
            </a:r>
            <a:r>
              <a:rPr sz="2800" dirty="0" err="1">
                <a:latin typeface="Arial"/>
              </a:rPr>
              <a:t>dL</a:t>
            </a:r>
            <a:r>
              <a:rPr sz="2800" dirty="0">
                <a:latin typeface="Arial"/>
              </a:rPr>
              <a:t>/</a:t>
            </a:r>
            <a:r>
              <a:rPr sz="2800" dirty="0" err="1">
                <a:latin typeface="DejaVu Sans"/>
              </a:rPr>
              <a:t>dŷ</a:t>
            </a:r>
            <a:r>
              <a:rPr sz="2800" dirty="0">
                <a:latin typeface="DejaVu Sans"/>
              </a:rPr>
              <a:t>ᵢ)(</a:t>
            </a:r>
            <a:r>
              <a:rPr sz="2800" dirty="0" err="1">
                <a:latin typeface="DejaVu Sans"/>
              </a:rPr>
              <a:t>dŷ</a:t>
            </a:r>
            <a:r>
              <a:rPr sz="2800" dirty="0">
                <a:latin typeface="DejaVu Sans"/>
              </a:rPr>
              <a:t>ᵢ/</a:t>
            </a:r>
            <a:r>
              <a:rPr sz="2800" dirty="0" err="1">
                <a:latin typeface="Arial"/>
              </a:rPr>
              <a:t>dz</a:t>
            </a:r>
            <a:r>
              <a:rPr sz="2800" dirty="0">
                <a:latin typeface="DejaVu Sans"/>
              </a:rPr>
              <a:t>ᵢ)(</a:t>
            </a:r>
            <a:r>
              <a:rPr sz="2800" dirty="0" err="1">
                <a:latin typeface="Arial"/>
              </a:rPr>
              <a:t>dz</a:t>
            </a:r>
            <a:r>
              <a:rPr sz="2800" dirty="0">
                <a:latin typeface="DejaVu Sans"/>
              </a:rPr>
              <a:t>ᵢ/</a:t>
            </a:r>
            <a:r>
              <a:rPr sz="2800" dirty="0" err="1">
                <a:latin typeface="Arial"/>
              </a:rPr>
              <a:t>dw</a:t>
            </a:r>
            <a:r>
              <a:rPr sz="2800" dirty="0">
                <a:latin typeface="DejaVu Sans"/>
              </a:rPr>
              <a:t>ⱼ)</a:t>
            </a:r>
          </a:p>
        </p:txBody>
      </p:sp>
      <p:sp>
        <p:nvSpPr>
          <p:cNvPr id="19" name="Text 17"/>
          <p:cNvSpPr/>
          <p:nvPr/>
        </p:nvSpPr>
        <p:spPr>
          <a:xfrm>
            <a:off x="1234440" y="5257800"/>
            <a:ext cx="65836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r>
              <a:rPr>
                <a:latin typeface="DejaVu Sans"/>
              </a:rPr>
              <a:t>Compute each sample gradient and sum them; xᵢⱼ appears for the j-th weight.</a:t>
            </a:r>
          </a:p>
        </p:txBody>
      </p:sp>
      <p:sp>
        <p:nvSpPr>
          <p:cNvPr id="20" name="Text 18"/>
          <p:cNvSpPr/>
          <p:nvPr/>
        </p:nvSpPr>
        <p:spPr>
          <a:xfrm>
            <a:off x="502920" y="641908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r>
              <a:rPr>
                <a:latin typeface="Arial"/>
              </a:rPr>
              <a:t>For MSE, the sigmoid derivative does not cancel.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1042416"/>
            <a:ext cx="850392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r>
              <a:rPr lang="en-US" sz="2400" b="1" dirty="0">
                <a:solidFill>
                  <a:srgbClr val="183452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Fundamentals of Machine Learning: Prediction → Loss → Gradient → Learning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42900" y="1419606"/>
            <a:ext cx="822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dirty="0">
                <a:solidFill>
                  <a:srgbClr val="5B6B78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Focused on binary classification (logistic regression)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42900" y="1707642"/>
            <a:ext cx="1954530" cy="548640"/>
          </a:xfrm>
          <a:prstGeom prst="roundRect">
            <a:avLst>
              <a:gd name="adj" fmla="val 15000"/>
            </a:avLst>
          </a:prstGeom>
          <a:solidFill>
            <a:srgbClr val="EAF3F9"/>
          </a:solidFill>
          <a:ln w="12700">
            <a:solidFill>
              <a:srgbClr val="D7E2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32054" y="1776222"/>
            <a:ext cx="178308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1050" b="1" dirty="0">
                <a:solidFill>
                  <a:srgbClr val="2279AF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Input data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1961388"/>
            <a:ext cx="181737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1200" b="1" dirty="0">
                <a:solidFill>
                  <a:srgbClr val="183452"/>
                </a:solidFill>
                <a:latin typeface="DejaVu Sans" pitchFamily="34" charset="0"/>
                <a:ea typeface="Malgun Gothic" pitchFamily="34" charset="-122"/>
                <a:cs typeface="Malgun Gothic" pitchFamily="34" charset="-120"/>
              </a:rPr>
              <a:t>X = (x₁, …, xₘ)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24862" y="1872234"/>
            <a:ext cx="2057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1400" b="1" dirty="0">
                <a:solidFill>
                  <a:srgbClr val="2279AF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37460" y="1707642"/>
            <a:ext cx="1954530" cy="548640"/>
          </a:xfrm>
          <a:prstGeom prst="roundRect">
            <a:avLst>
              <a:gd name="adj" fmla="val 15000"/>
            </a:avLst>
          </a:prstGeom>
          <a:solidFill>
            <a:srgbClr val="EAF3F9"/>
          </a:solidFill>
          <a:ln w="12700">
            <a:solidFill>
              <a:srgbClr val="D7E2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626614" y="1776222"/>
            <a:ext cx="178308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1050" b="1" dirty="0">
                <a:solidFill>
                  <a:srgbClr val="2279AF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Linear combination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06040" y="1961388"/>
            <a:ext cx="181737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1200" b="1" dirty="0">
                <a:solidFill>
                  <a:srgbClr val="183452"/>
                </a:solidFill>
                <a:latin typeface="DejaVu Sans" pitchFamily="34" charset="0"/>
                <a:ea typeface="Malgun Gothic" pitchFamily="34" charset="-122"/>
                <a:cs typeface="Malgun Gothic" pitchFamily="34" charset="-120"/>
              </a:rPr>
              <a:t>zᵢ = Σⱼwⱼxᵢⱼ + 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19422" y="1872234"/>
            <a:ext cx="2057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1400" b="1" dirty="0">
                <a:solidFill>
                  <a:srgbClr val="2279AF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32020" y="1707642"/>
            <a:ext cx="1954530" cy="548640"/>
          </a:xfrm>
          <a:prstGeom prst="roundRect">
            <a:avLst>
              <a:gd name="adj" fmla="val 15000"/>
            </a:avLst>
          </a:prstGeom>
          <a:solidFill>
            <a:srgbClr val="EAF3F9"/>
          </a:solidFill>
          <a:ln w="12700">
            <a:solidFill>
              <a:srgbClr val="D7E2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821174" y="1776222"/>
            <a:ext cx="178308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1050" b="1" dirty="0">
                <a:solidFill>
                  <a:srgbClr val="2279AF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Sigmoid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00600" y="1961388"/>
            <a:ext cx="181737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1200" b="1" dirty="0">
                <a:solidFill>
                  <a:srgbClr val="183452"/>
                </a:solidFill>
                <a:latin typeface="DejaVu Sans" pitchFamily="34" charset="0"/>
                <a:ea typeface="Malgun Gothic" pitchFamily="34" charset="-122"/>
                <a:cs typeface="Malgun Gothic" pitchFamily="34" charset="-120"/>
              </a:rPr>
              <a:t>ŷᵢ = σ(zᵢ)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13982" y="1872234"/>
            <a:ext cx="2057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1400" b="1" dirty="0">
                <a:solidFill>
                  <a:srgbClr val="2279AF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26580" y="1707642"/>
            <a:ext cx="1954530" cy="548640"/>
          </a:xfrm>
          <a:prstGeom prst="roundRect">
            <a:avLst>
              <a:gd name="adj" fmla="val 15000"/>
            </a:avLst>
          </a:prstGeom>
          <a:solidFill>
            <a:srgbClr val="EAF3F9"/>
          </a:solidFill>
          <a:ln w="12700">
            <a:solidFill>
              <a:srgbClr val="D7E2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015734" y="1776222"/>
            <a:ext cx="178308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1050" b="1" dirty="0">
                <a:solidFill>
                  <a:srgbClr val="2279AF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Error and loss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95160" y="1961388"/>
            <a:ext cx="181737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1200" b="1" dirty="0">
                <a:solidFill>
                  <a:srgbClr val="183452"/>
                </a:solidFill>
                <a:latin typeface="DejaVu Sans" pitchFamily="34" charset="0"/>
                <a:ea typeface="Malgun Gothic" pitchFamily="34" charset="-122"/>
                <a:cs typeface="Malgun Gothic" pitchFamily="34" charset="-120"/>
              </a:rPr>
              <a:t>yᵢ - ŷᵢ  →  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2900" y="2427732"/>
            <a:ext cx="4155948" cy="212598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7E2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636008" y="2427732"/>
            <a:ext cx="4155948" cy="212598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7E2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93776" y="2537460"/>
            <a:ext cx="38404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1600" b="1" dirty="0">
                <a:solidFill>
                  <a:srgbClr val="183452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Loss functions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0634" y="2825496"/>
            <a:ext cx="3819906" cy="0"/>
          </a:xfrm>
          <a:prstGeom prst="line">
            <a:avLst/>
          </a:prstGeom>
          <a:noFill/>
          <a:ln w="12700">
            <a:solidFill>
              <a:srgbClr val="D7E2E9"/>
            </a:solidFill>
            <a:prstDash val="solid"/>
            <a:headEnd type="none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62356" y="2907792"/>
            <a:ext cx="3634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dirty="0">
                <a:solidFill>
                  <a:srgbClr val="253544"/>
                </a:solidFill>
                <a:latin typeface="DejaVu Sans" pitchFamily="34" charset="0"/>
                <a:ea typeface="Malgun Gothic" pitchFamily="34" charset="-122"/>
                <a:cs typeface="Malgun Gothic" pitchFamily="34" charset="-120"/>
              </a:rPr>
              <a:t>Error = |y − ŷ|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2356" y="3202686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600" b="1" dirty="0">
                <a:solidFill>
                  <a:srgbClr val="253544"/>
                </a:solidFill>
                <a:latin typeface="DejaVu Sans" pitchFamily="34" charset="0"/>
                <a:ea typeface="Malgun Gothic" pitchFamily="34" charset="-122"/>
                <a:cs typeface="Malgun Gothic" pitchFamily="34" charset="-120"/>
              </a:rPr>
              <a:t>MSE = (1/N) Σᵢ(yᵢ − ŷᵢ)²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2356" y="3573018"/>
            <a:ext cx="3703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rPr lang="en-US" sz="1400" b="1" dirty="0">
                <a:solidFill>
                  <a:srgbClr val="253544"/>
                </a:solidFill>
                <a:latin typeface="DejaVu Sans" pitchFamily="34" charset="0"/>
                <a:ea typeface="Malgun Gothic" pitchFamily="34" charset="-122"/>
                <a:cs typeface="Malgun Gothic" pitchFamily="34" charset="-120"/>
              </a:rPr>
              <a:t>BCE = −(1/N) Σᵢ[yᵢ ln ŷᵢ + (1−yᵢ)ln(1−ŷᵢ)]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2356" y="4107942"/>
            <a:ext cx="380619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dirty="0">
                <a:solidFill>
                  <a:srgbClr val="5B6B78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Regression: MSE  |  Binary classification: BCE recommended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86884" y="2537460"/>
            <a:ext cx="38404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1600" b="1" dirty="0">
                <a:solidFill>
                  <a:srgbClr val="183452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Chain rule and gradients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93742" y="2825496"/>
            <a:ext cx="3819906" cy="0"/>
          </a:xfrm>
          <a:prstGeom prst="line">
            <a:avLst/>
          </a:prstGeom>
          <a:noFill/>
          <a:ln w="12700">
            <a:solidFill>
              <a:srgbClr val="D7E2E9"/>
            </a:solidFill>
            <a:prstDash val="solid"/>
            <a:headEnd type="none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848606" y="2935224"/>
            <a:ext cx="3703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b="1" dirty="0">
                <a:solidFill>
                  <a:srgbClr val="253544"/>
                </a:solidFill>
                <a:latin typeface="DejaVu Sans" pitchFamily="34" charset="0"/>
                <a:ea typeface="Malgun Gothic" pitchFamily="34" charset="-122"/>
                <a:cs typeface="Malgun Gothic" pitchFamily="34" charset="-120"/>
              </a:rPr>
              <a:t>∂zᵢ/∂wⱼ = xᵢⱼ      σ′(zᵢ) = ŷᵢ(1−ŷᵢ)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48606" y="3339846"/>
            <a:ext cx="37033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b="1" dirty="0">
                <a:solidFill>
                  <a:srgbClr val="253544"/>
                </a:solidFill>
                <a:latin typeface="DejaVu Sans" pitchFamily="34" charset="0"/>
                <a:ea typeface="Malgun Gothic" pitchFamily="34" charset="-122"/>
                <a:cs typeface="Malgun Gothic" pitchFamily="34" charset="-120"/>
              </a:rPr>
              <a:t>∂L/∂wⱼ = (∂L/∂ŷᵢ)(∂ŷᵢ/∂zᵢ)(∂zᵢ/∂wⱼ)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8606" y="3723894"/>
            <a:ext cx="373761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b="1" dirty="0">
                <a:solidFill>
                  <a:srgbClr val="16765D"/>
                </a:solidFill>
                <a:latin typeface="DejaVu Sans" pitchFamily="34" charset="0"/>
                <a:ea typeface="Malgun Gothic" pitchFamily="34" charset="-122"/>
                <a:cs typeface="Malgun Gothic" pitchFamily="34" charset="-120"/>
              </a:rPr>
              <a:t>BCE + Sigmoid:  ∂L/∂wⱼ = (1/N)Σᵢ(ŷᵢ−yᵢ)xᵢⱼ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8606" y="4087368"/>
            <a:ext cx="3703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b="1" dirty="0">
                <a:solidFill>
                  <a:srgbClr val="16765D"/>
                </a:solidFill>
                <a:latin typeface="DejaVu Sans" pitchFamily="34" charset="0"/>
                <a:ea typeface="Malgun Gothic" pitchFamily="34" charset="-122"/>
                <a:cs typeface="Malgun Gothic" pitchFamily="34" charset="-120"/>
              </a:rPr>
              <a:t>∂L/∂b = (1/N)Σᵢ(ŷᵢ−yᵢ)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42900" y="4684014"/>
            <a:ext cx="8449056" cy="822960"/>
          </a:xfrm>
          <a:prstGeom prst="roundRect">
            <a:avLst>
              <a:gd name="adj" fmla="val 10000"/>
            </a:avLst>
          </a:prstGeom>
          <a:solidFill>
            <a:srgbClr val="F3F7F9"/>
          </a:solidFill>
          <a:ln w="12700">
            <a:solidFill>
              <a:srgbClr val="D7E2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514350" y="4800600"/>
            <a:ext cx="3429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1600" b="1" dirty="0">
                <a:solidFill>
                  <a:srgbClr val="183452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Gradient descent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470148" y="4786884"/>
            <a:ext cx="509549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2279AF"/>
                </a:solidFill>
                <a:latin typeface="DejaVu Sans" pitchFamily="34" charset="0"/>
                <a:ea typeface="Malgun Gothic" pitchFamily="34" charset="-122"/>
                <a:cs typeface="Malgun Gothic" pitchFamily="34" charset="-120"/>
              </a:rPr>
              <a:t>wⱼ ← wⱼ − η ∂L/∂wⱼ       b ← b − η ∂L/∂b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14350" y="5164074"/>
            <a:ext cx="80924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 lang="en-US" sz="1200" dirty="0">
                <a:solidFill>
                  <a:srgbClr val="5B6B78"/>
                </a:solidFill>
                <a:latin typeface="DejaVu Sans" pitchFamily="34" charset="0"/>
                <a:ea typeface="Malgun Gothic" pitchFamily="34" charset="-122"/>
                <a:cs typeface="Malgun Gothic" pitchFamily="34" charset="-120"/>
              </a:rPr>
              <a:t>η: learning rate  |  positive gradient: decrease parameter; negative gradient: increase it  |  repeat to minimize loss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42900" y="5678424"/>
            <a:ext cx="85039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r>
              <a:rPr lang="en-US" b="1" dirty="0">
                <a:solidFill>
                  <a:srgbClr val="183452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Key idea: Compute loss from X and targets y, then update w and b opposite to the gradient.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89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74320"/>
            <a:ext cx="8229600" cy="313932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r>
              <a:rPr sz="2400" b="1">
                <a:solidFill>
                  <a:srgbClr val="232323"/>
                </a:solidFill>
                <a:latin typeface="Arial"/>
              </a:rPr>
              <a:t>Mean Squared Error (MSE)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046720" cy="292608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r>
              <a:rPr sz="1500">
                <a:solidFill>
                  <a:srgbClr val="505050"/>
                </a:solidFill>
                <a:latin typeface="DejaVu Sans"/>
              </a:rPr>
              <a:t>MSE measures the squared difference between predicted probability ŷ and binary target 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8" y="1764792"/>
            <a:ext cx="3977639" cy="1417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83664"/>
            <a:ext cx="3200400" cy="228600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r>
              <a:rPr sz="1500" b="1">
                <a:solidFill>
                  <a:srgbClr val="232323"/>
                </a:solidFill>
                <a:latin typeface="Arial"/>
              </a:rPr>
              <a:t>Mean MSE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3657600" cy="320040"/>
          </a:xfrm>
          <a:prstGeom prst="rect">
            <a:avLst/>
          </a:prstGeom>
          <a:noFill/>
        </p:spPr>
        <p:txBody>
          <a:bodyPr wrap="none">
            <a:normAutofit fontScale="92500" lnSpcReduction="20000"/>
          </a:bodyPr>
          <a:lstStyle/>
          <a:p>
            <a:r>
              <a:rPr sz="1800">
                <a:solidFill>
                  <a:srgbClr val="232323"/>
                </a:solidFill>
                <a:latin typeface="DejaVu Sans"/>
              </a:rPr>
              <a:t>L = (1/n) Σᵢ (ŷᵢ − yᵢ)²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15184"/>
            <a:ext cx="365760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r>
              <a:rPr sz="1250">
                <a:solidFill>
                  <a:srgbClr val="505050"/>
                </a:solidFill>
                <a:latin typeface="Arial"/>
              </a:rPr>
              <a:t>Using half-MSE adds a factor of 1/2.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" y="3364991"/>
            <a:ext cx="4005073" cy="2869553"/>
          </a:xfrm>
          <a:prstGeom prst="roundRect">
            <a:avLst/>
          </a:prstGeom>
          <a:solidFill>
            <a:srgbClr val="FCFCFC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456432"/>
            <a:ext cx="3200400" cy="228600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r>
              <a:rPr sz="1500" b="1">
                <a:solidFill>
                  <a:srgbClr val="232323"/>
                </a:solidFill>
                <a:latin typeface="Arial"/>
              </a:rP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22192"/>
            <a:ext cx="3611880" cy="2308324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1600" dirty="0">
                <a:solidFill>
                  <a:srgbClr val="232323"/>
                </a:solidFill>
                <a:latin typeface="DejaVu Sans"/>
              </a:rPr>
              <a:t>yᵢ = 1: loss = (1 − ŷᵢ)²</a:t>
            </a:r>
          </a:p>
          <a:p>
            <a:r>
              <a:rPr sz="1600" dirty="0">
                <a:solidFill>
                  <a:srgbClr val="232323"/>
                </a:solidFill>
                <a:latin typeface="DejaVu Sans"/>
              </a:rPr>
              <a:t>yᵢ = 0: loss = ŷᵢ²</a:t>
            </a:r>
          </a:p>
          <a:p>
            <a:endParaRPr sz="1600" dirty="0">
              <a:solidFill>
                <a:srgbClr val="232323"/>
              </a:solidFill>
              <a:latin typeface="DejaVu Sans"/>
            </a:endParaRPr>
          </a:p>
          <a:p>
            <a:r>
              <a:rPr sz="1600" dirty="0">
                <a:solidFill>
                  <a:srgbClr val="232323"/>
                </a:solidFill>
                <a:latin typeface="Arial"/>
              </a:rPr>
              <a:t>Loss increases as the prediction</a:t>
            </a:r>
          </a:p>
          <a:p>
            <a:r>
              <a:rPr sz="1600" dirty="0">
                <a:solidFill>
                  <a:srgbClr val="232323"/>
                </a:solidFill>
                <a:latin typeface="Arial"/>
              </a:rPr>
              <a:t>moves away from the label.</a:t>
            </a:r>
          </a:p>
          <a:p>
            <a:r>
              <a:rPr sz="1600" dirty="0">
                <a:solidFill>
                  <a:srgbClr val="232323"/>
                </a:solidFill>
                <a:latin typeface="Arial"/>
              </a:rPr>
              <a:t>Unlike BCE, MSE remains bounded</a:t>
            </a:r>
          </a:p>
          <a:p>
            <a:r>
              <a:rPr sz="1600" dirty="0">
                <a:solidFill>
                  <a:srgbClr val="232323"/>
                </a:solidFill>
                <a:latin typeface="Arial"/>
              </a:rPr>
              <a:t>even for confidently wrong predictions.</a:t>
            </a:r>
          </a:p>
          <a:p>
            <a:r>
              <a:rPr sz="1600" dirty="0">
                <a:solidFill>
                  <a:srgbClr val="232323"/>
                </a:solidFill>
                <a:latin typeface="Arial"/>
              </a:rPr>
              <a:t>However, gradients can be small</a:t>
            </a:r>
          </a:p>
          <a:p>
            <a:r>
              <a:rPr sz="1600" dirty="0">
                <a:solidFill>
                  <a:srgbClr val="232323"/>
                </a:solidFill>
                <a:latin typeface="Arial"/>
              </a:rPr>
              <a:t>when sigmoid saturates.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617720" y="1143000"/>
          <a:ext cx="388620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709160" y="5074920"/>
            <a:ext cx="3703320" cy="256032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/>
            <a:r>
              <a:rPr sz="1300">
                <a:solidFill>
                  <a:srgbClr val="232323"/>
                </a:solidFill>
                <a:latin typeface="Arial"/>
              </a:rPr>
              <a:t>Single-sample MSE loss curves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6446520"/>
            <a:ext cx="274320" cy="182880"/>
          </a:xfrm>
          <a:prstGeom prst="rect">
            <a:avLst/>
          </a:prstGeom>
          <a:noFill/>
        </p:spPr>
        <p:txBody>
          <a:bodyPr wrap="none">
            <a:normAutofit fontScale="70000" lnSpcReduction="20000"/>
          </a:bodyPr>
          <a:lstStyle/>
          <a:p>
            <a:r>
              <a:rPr sz="1000">
                <a:solidFill>
                  <a:srgbClr val="232323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74320"/>
            <a:ext cx="822960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r>
              <a:rPr dirty="0" err="1">
                <a:latin typeface="Arial"/>
              </a:rPr>
              <a:t>Binary Cross-Entropy (BCE)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0467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 lnSpcReduction="10000"/>
          </a:bodyPr>
          <a:lstStyle/>
          <a:p>
            <a:r>
              <a:rPr>
                <a:latin typeface="Arial"/>
              </a:rPr>
              <a:t>BCE measures how well sigmoid probabilities match binary labels.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8" y="1764792"/>
            <a:ext cx="3977639" cy="1417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83664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 fontScale="85000" lnSpcReduction="20000"/>
          </a:bodyPr>
          <a:lstStyle/>
          <a:p>
            <a:r>
              <a:rPr>
                <a:latin typeface="Arial"/>
              </a:rPr>
              <a:t>Mean BCE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03704"/>
            <a:ext cx="3657600" cy="228600"/>
          </a:xfrm>
          <a:prstGeom prst="rect">
            <a:avLst/>
          </a:prstGeom>
          <a:noFill/>
        </p:spPr>
        <p:txBody>
          <a:bodyPr wrap="none" lIns="18288" tIns="0" rIns="18288" bIns="0">
            <a:normAutofit lnSpcReduction="10000"/>
          </a:bodyPr>
          <a:lstStyle/>
          <a:p>
            <a:pPr algn="l"/>
            <a:r>
              <a:rPr sz="1600" dirty="0">
                <a:solidFill>
                  <a:srgbClr val="232323"/>
                </a:solidFill>
                <a:latin typeface="DejaVu Sans"/>
              </a:rPr>
              <a:t>L = −(1/n) Σᵢ [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23743"/>
            <a:ext cx="3657600" cy="228600"/>
          </a:xfrm>
          <a:prstGeom prst="rect">
            <a:avLst/>
          </a:prstGeom>
          <a:noFill/>
        </p:spPr>
        <p:txBody>
          <a:bodyPr wrap="none" lIns="18288" tIns="0" rIns="18288" bIns="0">
            <a:normAutofit lnSpcReduction="10000"/>
          </a:bodyPr>
          <a:lstStyle/>
          <a:p>
            <a:pPr algn="l"/>
            <a:r>
              <a:rPr sz="1600" dirty="0">
                <a:solidFill>
                  <a:srgbClr val="232323"/>
                </a:solidFill>
                <a:latin typeface="DejaVu Sans"/>
              </a:rPr>
              <a:t>yᵢ log(ŷᵢ) + (1 − yᵢ) log(1 − ŷᵢ)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" y="3364992"/>
            <a:ext cx="4023361" cy="2377440"/>
          </a:xfrm>
          <a:prstGeom prst="roundRect">
            <a:avLst/>
          </a:prstGeom>
          <a:solidFill>
            <a:srgbClr val="FCFCFC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456432"/>
            <a:ext cx="3200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 fontScale="85000" lnSpcReduction="20000"/>
          </a:bodyPr>
          <a:lstStyle/>
          <a:p>
            <a:r>
              <a:rPr>
                <a:latin typeface="Arial"/>
              </a:rP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22192"/>
            <a:ext cx="3611880" cy="1905137"/>
          </a:xfrm>
          <a:prstGeom prst="rect">
            <a:avLst/>
          </a:prstGeom>
          <a:noFill/>
        </p:spPr>
        <p:txBody>
          <a:bodyPr wrap="square" lIns="64008" tIns="36576" rIns="64008" bIns="36576">
            <a:normAutofit fontScale="92500" lnSpcReduction="10000"/>
          </a:bodyPr>
          <a:lstStyle/>
          <a:p>
            <a:r>
              <a:rPr sz="1700" dirty="0">
                <a:latin typeface="DejaVu Sans"/>
              </a:rPr>
              <a:t>yᵢ = 1: loss = −log(ŷᵢ)</a:t>
            </a:r>
          </a:p>
          <a:p>
            <a:r>
              <a:rPr sz="1700" dirty="0">
                <a:latin typeface="DejaVu Sans"/>
              </a:rPr>
              <a:t>yᵢ = 0: loss = −log(1 − ŷᵢ)</a:t>
            </a:r>
          </a:p>
          <a:p>
            <a:endParaRPr sz="1700" dirty="0">
              <a:latin typeface="DejaVu Sans"/>
            </a:endParaRPr>
          </a:p>
          <a:p>
            <a:r>
              <a:rPr sz="1700" dirty="0">
                <a:latin typeface="Arial"/>
              </a:rPr>
              <a:t>Loss increases sharply when the</a:t>
            </a:r>
          </a:p>
          <a:p>
            <a:r>
              <a:rPr sz="1700" dirty="0">
                <a:latin typeface="Arial"/>
              </a:rPr>
              <a:t>model is confidently wrong.</a:t>
            </a:r>
          </a:p>
          <a:p>
            <a:r>
              <a:rPr sz="1700" dirty="0">
                <a:latin typeface="DejaVu Sans"/>
              </a:rPr>
              <a:t>Because ŷᵢ is a sigmoid probability,</a:t>
            </a:r>
          </a:p>
          <a:p>
            <a:r>
              <a:rPr sz="1700" dirty="0">
                <a:latin typeface="DejaVu Sans"/>
              </a:rPr>
              <a:t>0 &lt; ŷᵢ &lt; 1.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18189"/>
              </p:ext>
            </p:extLst>
          </p:nvPr>
        </p:nvGraphicFramePr>
        <p:xfrm>
          <a:off x="4617720" y="1143000"/>
          <a:ext cx="388620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709160" y="5074920"/>
            <a:ext cx="370332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 fontScale="92500" lnSpcReduction="20000"/>
          </a:bodyPr>
          <a:lstStyle/>
          <a:p>
            <a:r>
              <a:rPr>
                <a:latin typeface="Arial"/>
              </a:rPr>
              <a:t>Single-sample BCE loss curves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6446520"/>
            <a:ext cx="27432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 lnSpcReduction="10000"/>
          </a:bodyPr>
          <a:lstStyle/>
          <a:p>
            <a:r>
              <a:rPr sz="1000"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0115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47">
            <a:extLst>
              <a:ext uri="{FF2B5EF4-FFF2-40B4-BE49-F238E27FC236}">
                <a16:creationId xmlns:a16="http://schemas.microsoft.com/office/drawing/2014/main" id="{80196D06-3146-4BC5-8E58-BFF87B208D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773113"/>
          <a:ext cx="6591300" cy="539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3" imgW="3949560" imgH="3225600" progId="Equation.DSMT4">
                  <p:embed/>
                </p:oleObj>
              </mc:Choice>
              <mc:Fallback>
                <p:oleObj name="Equation" r:id="rId3" imgW="3949560" imgH="3225600" progId="Equation.DSMT4">
                  <p:embed/>
                  <p:pic>
                    <p:nvPicPr>
                      <p:cNvPr id="2050" name="Object 47">
                        <a:extLst>
                          <a:ext uri="{FF2B5EF4-FFF2-40B4-BE49-F238E27FC236}">
                            <a16:creationId xmlns:a16="http://schemas.microsoft.com/office/drawing/2014/main" id="{80196D06-3146-4BC5-8E58-BFF87B208D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773113"/>
                        <a:ext cx="6591300" cy="539273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" name="TextBox 2">
            <a:extLst>
              <a:ext uri="{FF2B5EF4-FFF2-40B4-BE49-F238E27FC236}">
                <a16:creationId xmlns:a16="http://schemas.microsoft.com/office/drawing/2014/main" id="{C3DDF11E-C531-41DA-AB8F-B34D2F14E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3" y="209550"/>
            <a:ext cx="4133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Courier"/>
                <a:cs typeface="Courier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Courier"/>
                <a:cs typeface="Courier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Courier"/>
                <a:cs typeface="Courier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Courier"/>
                <a:cs typeface="Courier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Courier"/>
                <a:cs typeface="Courier"/>
              </a:defRPr>
            </a:lvl5pPr>
            <a:lvl6pPr marL="2514600" indent="-228600" algn="ctr" eaLnBrk="0" fontAlgn="base" latinLnBrk="1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Courier"/>
                <a:cs typeface="Courier"/>
              </a:defRPr>
            </a:lvl6pPr>
            <a:lvl7pPr marL="2971800" indent="-228600" algn="ctr" eaLnBrk="0" fontAlgn="base" latinLnBrk="1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Courier"/>
                <a:cs typeface="Courier"/>
              </a:defRPr>
            </a:lvl7pPr>
            <a:lvl8pPr marL="3429000" indent="-228600" algn="ctr" eaLnBrk="0" fontAlgn="base" latinLnBrk="1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Courier"/>
                <a:cs typeface="Courier"/>
              </a:defRPr>
            </a:lvl8pPr>
            <a:lvl9pPr marL="3886200" indent="-228600" algn="ctr" eaLnBrk="0" fontAlgn="base" latinLnBrk="1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Courier"/>
                <a:cs typeface="Courier"/>
              </a:defRPr>
            </a:lvl9pPr>
          </a:lstStyle>
          <a:p>
            <a:pPr eaLnBrk="1" hangingPunct="1"/>
            <a:r>
              <a:rPr lang="ko-KR" altLang="en-US"/>
              <a:t>꼭 알아야 할 미적분 공식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A2C92D-035C-4ECD-9965-06E85FD875F1}"/>
              </a:ext>
            </a:extLst>
          </p:cNvPr>
          <p:cNvSpPr txBox="1"/>
          <p:nvPr/>
        </p:nvSpPr>
        <p:spPr>
          <a:xfrm>
            <a:off x="6673174" y="571555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놓적치적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27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52"/>
    </mc:Choice>
    <mc:Fallback xmlns="">
      <p:transition spd="slow" advTm="525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3785652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 fontScale="77500" lnSpcReduction="20000"/>
          </a:bodyPr>
          <a:lstStyle/>
          <a:p>
            <a:r>
              <a:rPr lang="ko-KR" altLang="en-US" dirty="0" err="1">
                <a:latin typeface="Arial"/>
              </a:rPr>
              <a:t>Derivative of the Sigmoid Activation Function</a:t>
            </a:r>
            <a:endParaRPr dirty="0">
              <a:latin typeface="Nanum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8912" y="704088"/>
            <a:ext cx="80467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 lnSpcReduction="10000"/>
          </a:bodyPr>
          <a:lstStyle/>
          <a:p>
            <a:r>
              <a:rPr>
                <a:latin typeface="DejaVu Sans"/>
              </a:rPr>
              <a:t>Derive σ′(z), the factor remaining in the MSE gradient.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78992"/>
            <a:ext cx="3977639" cy="135331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35661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 fontScale="85000" lnSpcReduction="20000"/>
          </a:bodyPr>
          <a:lstStyle/>
          <a:p>
            <a:r>
              <a:rPr>
                <a:latin typeface="Arial"/>
              </a:rPr>
              <a:t>Sigmoid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36192"/>
            <a:ext cx="1143000" cy="320040"/>
          </a:xfrm>
          <a:prstGeom prst="rect">
            <a:avLst/>
          </a:prstGeom>
          <a:noFill/>
        </p:spPr>
        <p:txBody>
          <a:bodyPr wrap="none" lIns="27432" tIns="0" rIns="27432" bIns="0">
            <a:normAutofit fontScale="92500" lnSpcReduction="10000"/>
          </a:bodyPr>
          <a:lstStyle/>
          <a:p>
            <a:pPr algn="l"/>
            <a:r>
              <a:rPr sz="2400">
                <a:solidFill>
                  <a:srgbClr val="232323"/>
                </a:solidFill>
                <a:latin typeface="DejaVu Sans"/>
              </a:rPr>
              <a:t>σ(z) =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344168"/>
            <a:ext cx="2011680" cy="228600"/>
          </a:xfrm>
          <a:prstGeom prst="rect">
            <a:avLst/>
          </a:prstGeom>
          <a:noFill/>
        </p:spPr>
        <p:txBody>
          <a:bodyPr wrap="none" lIns="27432" tIns="0" rIns="27432" bIns="0">
            <a:normAutofit fontScale="70000" lnSpcReduction="20000"/>
          </a:bodyPr>
          <a:lstStyle/>
          <a:p>
            <a:pPr algn="ctr"/>
            <a:r>
              <a:rPr sz="2400">
                <a:solidFill>
                  <a:srgbClr val="232323"/>
                </a:solidFill>
                <a:latin typeface="Arial"/>
              </a:rPr>
              <a:t>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56231" y="1636776"/>
            <a:ext cx="1956817" cy="0"/>
          </a:xfrm>
          <a:prstGeom prst="line">
            <a:avLst/>
          </a:prstGeom>
          <a:ln w="1778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828800" y="1673352"/>
            <a:ext cx="2011680" cy="292608"/>
          </a:xfrm>
          <a:prstGeom prst="rect">
            <a:avLst/>
          </a:prstGeom>
          <a:noFill/>
        </p:spPr>
        <p:txBody>
          <a:bodyPr wrap="none" lIns="27432" tIns="0" rIns="27432" bIns="0">
            <a:normAutofit fontScale="92500" lnSpcReduction="10000"/>
          </a:bodyPr>
          <a:lstStyle/>
          <a:p>
            <a:pPr algn="ctr"/>
            <a:r>
              <a:rPr sz="2200">
                <a:solidFill>
                  <a:srgbClr val="232323"/>
                </a:solidFill>
                <a:latin typeface="Arial"/>
              </a:rPr>
              <a:t>1 + e</a:t>
            </a:r>
            <a:r>
              <a:rPr sz="1700" baseline="30000">
                <a:solidFill>
                  <a:srgbClr val="232323"/>
                </a:solidFill>
                <a:latin typeface="Arial"/>
              </a:rPr>
              <a:t>−z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84248"/>
            <a:ext cx="3291840" cy="292608"/>
          </a:xfrm>
          <a:prstGeom prst="rect">
            <a:avLst/>
          </a:prstGeom>
          <a:noFill/>
        </p:spPr>
        <p:txBody>
          <a:bodyPr wrap="none" lIns="27432" tIns="0" rIns="27432" bIns="0">
            <a:normAutofit lnSpcReduction="10000"/>
          </a:bodyPr>
          <a:lstStyle/>
          <a:p>
            <a:pPr algn="l"/>
            <a:r>
              <a:rPr sz="2100">
                <a:solidFill>
                  <a:srgbClr val="232323"/>
                </a:solidFill>
                <a:latin typeface="DejaVu Sans"/>
              </a:rPr>
              <a:t>ŷᵢ = σ(zᵢ)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078992"/>
            <a:ext cx="3977639" cy="135331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2040" y="1188720"/>
            <a:ext cx="34747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 fontScale="85000" lnSpcReduction="20000"/>
          </a:bodyPr>
          <a:lstStyle/>
          <a:p>
            <a:r>
              <a:rPr>
                <a:latin typeface="Arial"/>
              </a:rPr>
              <a:t>Derivative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536192"/>
            <a:ext cx="3474720" cy="320040"/>
          </a:xfrm>
          <a:prstGeom prst="rect">
            <a:avLst/>
          </a:prstGeom>
          <a:noFill/>
        </p:spPr>
        <p:txBody>
          <a:bodyPr wrap="none" lIns="27432" tIns="0" rIns="27432" bIns="0">
            <a:normAutofit/>
          </a:bodyPr>
          <a:lstStyle/>
          <a:p>
            <a:pPr algn="l"/>
            <a:r>
              <a:rPr sz="2100">
                <a:solidFill>
                  <a:srgbClr val="232323"/>
                </a:solidFill>
                <a:latin typeface="DejaVu Sans"/>
              </a:rPr>
              <a:t>σ′(z) = σ(z)[1 − σ(z)]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965960"/>
            <a:ext cx="3474720" cy="320040"/>
          </a:xfrm>
          <a:prstGeom prst="rect">
            <a:avLst/>
          </a:prstGeom>
          <a:noFill/>
        </p:spPr>
        <p:txBody>
          <a:bodyPr wrap="none" lIns="27432" tIns="0" rIns="27432" bIns="0">
            <a:normAutofit/>
          </a:bodyPr>
          <a:lstStyle/>
          <a:p>
            <a:pPr algn="l"/>
            <a:r>
              <a:rPr sz="2100">
                <a:solidFill>
                  <a:srgbClr val="232323"/>
                </a:solidFill>
                <a:latin typeface="DejaVu Sans"/>
              </a:rPr>
              <a:t>dŷᵢ/dzᵢ = ŷᵢ(1 − ŷᵢ)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1581912"/>
            <a:ext cx="411480" cy="365760"/>
          </a:xfrm>
          <a:prstGeom prst="rect">
            <a:avLst/>
          </a:prstGeom>
          <a:noFill/>
        </p:spPr>
        <p:txBody>
          <a:bodyPr wrap="none" lIns="45720" tIns="18288" rIns="45720" bIns="18288" anchor="t">
            <a:normAutofit fontScale="92500" lnSpcReduction="20000"/>
          </a:bodyPr>
          <a:lstStyle/>
          <a:p>
            <a:pPr algn="ctr"/>
            <a:r>
              <a:rPr sz="2800" b="1">
                <a:solidFill>
                  <a:srgbClr val="1F4E79"/>
                </a:solidFill>
                <a:latin typeface="Arial"/>
              </a:rPr>
              <a:t>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679192"/>
            <a:ext cx="8138160" cy="3611880"/>
          </a:xfrm>
          <a:prstGeom prst="roundRect">
            <a:avLst/>
          </a:prstGeom>
          <a:solidFill>
            <a:srgbClr val="FCFCFC"/>
          </a:solidFill>
          <a:ln w="12700"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2834640"/>
            <a:ext cx="182880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 fontScale="92500" lnSpcReduction="20000"/>
          </a:bodyPr>
          <a:lstStyle/>
          <a:p>
            <a:r>
              <a:rPr>
                <a:latin typeface="Arial"/>
              </a:rPr>
              <a:t>Derivation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154680"/>
            <a:ext cx="594360" cy="228600"/>
          </a:xfrm>
          <a:prstGeom prst="rect">
            <a:avLst/>
          </a:prstGeom>
          <a:noFill/>
        </p:spPr>
        <p:txBody>
          <a:bodyPr wrap="none" lIns="27432" tIns="0" rIns="27432" bIns="0">
            <a:normAutofit fontScale="92500" lnSpcReduction="10000"/>
          </a:bodyPr>
          <a:lstStyle/>
          <a:p>
            <a:pPr algn="ctr"/>
            <a:r>
              <a:rPr sz="1700">
                <a:solidFill>
                  <a:srgbClr val="232323"/>
                </a:solidFill>
                <a:latin typeface="DejaVu Sans"/>
              </a:rPr>
              <a:t>dσ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6112" y="3447288"/>
            <a:ext cx="539496" cy="0"/>
          </a:xfrm>
          <a:prstGeom prst="line">
            <a:avLst/>
          </a:prstGeom>
          <a:ln w="1778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68680" y="3483864"/>
            <a:ext cx="594360" cy="292608"/>
          </a:xfrm>
          <a:prstGeom prst="rect">
            <a:avLst/>
          </a:prstGeom>
          <a:noFill/>
        </p:spPr>
        <p:txBody>
          <a:bodyPr wrap="none" lIns="27432" tIns="0" rIns="27432" bIns="0">
            <a:normAutofit/>
          </a:bodyPr>
          <a:lstStyle/>
          <a:p>
            <a:pPr algn="ctr"/>
            <a:r>
              <a:rPr sz="1500">
                <a:solidFill>
                  <a:srgbClr val="232323"/>
                </a:solidFill>
                <a:latin typeface="Arial"/>
              </a:rPr>
              <a:t>dz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72184" y="3319272"/>
            <a:ext cx="228600" cy="201168"/>
          </a:xfrm>
          <a:prstGeom prst="rect">
            <a:avLst/>
          </a:prstGeom>
          <a:noFill/>
        </p:spPr>
        <p:txBody>
          <a:bodyPr wrap="none" lIns="27432" tIns="0" rIns="27432" bIns="0">
            <a:normAutofit fontScale="85000" lnSpcReduction="20000"/>
          </a:bodyPr>
          <a:lstStyle/>
          <a:p>
            <a:pPr algn="l"/>
            <a:r>
              <a:rPr sz="1800">
                <a:solidFill>
                  <a:srgbClr val="232323"/>
                </a:solidFill>
                <a:latin typeface="Arial"/>
              </a:rPr>
              <a:t> =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0784" y="3154680"/>
            <a:ext cx="411480" cy="228600"/>
          </a:xfrm>
          <a:prstGeom prst="rect">
            <a:avLst/>
          </a:prstGeom>
          <a:noFill/>
        </p:spPr>
        <p:txBody>
          <a:bodyPr wrap="none" lIns="27432" tIns="0" rIns="27432" bIns="0">
            <a:normAutofit fontScale="92500" lnSpcReduction="10000"/>
          </a:bodyPr>
          <a:lstStyle/>
          <a:p>
            <a:pPr algn="ctr"/>
            <a:r>
              <a:rPr sz="1700">
                <a:solidFill>
                  <a:srgbClr val="232323"/>
                </a:solidFill>
                <a:latin typeface="Arial"/>
              </a:rPr>
              <a:t>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728216" y="3447288"/>
            <a:ext cx="356616" cy="0"/>
          </a:xfrm>
          <a:prstGeom prst="line">
            <a:avLst/>
          </a:prstGeom>
          <a:ln w="1778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700784" y="3483864"/>
            <a:ext cx="411480" cy="292608"/>
          </a:xfrm>
          <a:prstGeom prst="rect">
            <a:avLst/>
          </a:prstGeom>
          <a:noFill/>
        </p:spPr>
        <p:txBody>
          <a:bodyPr wrap="none" lIns="27432" tIns="0" rIns="27432" bIns="0">
            <a:normAutofit/>
          </a:bodyPr>
          <a:lstStyle/>
          <a:p>
            <a:pPr algn="ctr"/>
            <a:r>
              <a:rPr sz="1500">
                <a:solidFill>
                  <a:srgbClr val="232323"/>
                </a:solidFill>
                <a:latin typeface="Arial"/>
              </a:rPr>
              <a:t>dz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3291840"/>
            <a:ext cx="3657600" cy="292608"/>
          </a:xfrm>
          <a:prstGeom prst="rect">
            <a:avLst/>
          </a:prstGeom>
          <a:noFill/>
        </p:spPr>
        <p:txBody>
          <a:bodyPr wrap="none" lIns="27432" tIns="0" rIns="27432" bIns="0">
            <a:normAutofit/>
          </a:bodyPr>
          <a:lstStyle/>
          <a:p>
            <a:pPr algn="l"/>
            <a:r>
              <a:rPr sz="1800">
                <a:solidFill>
                  <a:srgbClr val="232323"/>
                </a:solidFill>
                <a:latin typeface="Arial"/>
              </a:rPr>
              <a:t> (1 + e</a:t>
            </a:r>
            <a:r>
              <a:rPr sz="1300" baseline="30000">
                <a:solidFill>
                  <a:srgbClr val="232323"/>
                </a:solidFill>
                <a:latin typeface="Arial"/>
              </a:rPr>
              <a:t>−z</a:t>
            </a:r>
            <a:r>
              <a:rPr sz="1800">
                <a:solidFill>
                  <a:srgbClr val="232323"/>
                </a:solidFill>
                <a:latin typeface="Arial"/>
              </a:rPr>
              <a:t>)</a:t>
            </a:r>
            <a:r>
              <a:rPr sz="1300" baseline="30000">
                <a:solidFill>
                  <a:srgbClr val="232323"/>
                </a:solidFill>
                <a:latin typeface="Arial"/>
              </a:rPr>
              <a:t>−1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749039"/>
            <a:ext cx="6766560" cy="292608"/>
          </a:xfrm>
          <a:prstGeom prst="rect">
            <a:avLst/>
          </a:prstGeom>
          <a:noFill/>
        </p:spPr>
        <p:txBody>
          <a:bodyPr wrap="none" lIns="27432" tIns="0" rIns="27432" bIns="0">
            <a:normAutofit/>
          </a:bodyPr>
          <a:lstStyle/>
          <a:p>
            <a:pPr algn="l"/>
            <a:r>
              <a:rPr sz="1800">
                <a:solidFill>
                  <a:srgbClr val="232323"/>
                </a:solidFill>
                <a:latin typeface="Arial"/>
              </a:rPr>
              <a:t>= −(1 + e</a:t>
            </a:r>
            <a:r>
              <a:rPr sz="1300" baseline="30000">
                <a:solidFill>
                  <a:srgbClr val="232323"/>
                </a:solidFill>
                <a:latin typeface="Arial"/>
              </a:rPr>
              <a:t>−z</a:t>
            </a:r>
            <a:r>
              <a:rPr sz="1800">
                <a:solidFill>
                  <a:srgbClr val="232323"/>
                </a:solidFill>
                <a:latin typeface="Arial"/>
              </a:rPr>
              <a:t>)</a:t>
            </a:r>
            <a:r>
              <a:rPr sz="1300" baseline="30000">
                <a:solidFill>
                  <a:srgbClr val="232323"/>
                </a:solidFill>
                <a:latin typeface="Arial"/>
              </a:rPr>
              <a:t>−2</a:t>
            </a:r>
            <a:r>
              <a:rPr sz="1800">
                <a:solidFill>
                  <a:srgbClr val="232323"/>
                </a:solidFill>
                <a:latin typeface="Arial"/>
              </a:rPr>
              <a:t>(−e</a:t>
            </a:r>
            <a:r>
              <a:rPr sz="1300" baseline="30000">
                <a:solidFill>
                  <a:srgbClr val="232323"/>
                </a:solidFill>
                <a:latin typeface="Arial"/>
              </a:rPr>
              <a:t>−z</a:t>
            </a:r>
            <a:r>
              <a:rPr sz="1800">
                <a:solidFill>
                  <a:srgbClr val="232323"/>
                </a:solidFill>
                <a:latin typeface="Arial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270248"/>
            <a:ext cx="228600" cy="228600"/>
          </a:xfrm>
          <a:prstGeom prst="rect">
            <a:avLst/>
          </a:prstGeom>
          <a:noFill/>
        </p:spPr>
        <p:txBody>
          <a:bodyPr wrap="none" lIns="27432" tIns="0" rIns="27432" bIns="0">
            <a:normAutofit fontScale="92500" lnSpcReduction="20000"/>
          </a:bodyPr>
          <a:lstStyle/>
          <a:p>
            <a:pPr algn="l"/>
            <a:r>
              <a:rPr sz="1800">
                <a:solidFill>
                  <a:srgbClr val="232323"/>
                </a:solidFill>
                <a:latin typeface="Arial"/>
              </a:rPr>
              <a:t>=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050791"/>
            <a:ext cx="1920240" cy="228600"/>
          </a:xfrm>
          <a:prstGeom prst="rect">
            <a:avLst/>
          </a:prstGeom>
          <a:noFill/>
        </p:spPr>
        <p:txBody>
          <a:bodyPr wrap="none" lIns="27432" tIns="0" rIns="27432" bIns="0">
            <a:normAutofit fontScale="92500" lnSpcReduction="20000"/>
          </a:bodyPr>
          <a:lstStyle/>
          <a:p>
            <a:pPr algn="ctr"/>
            <a:r>
              <a:rPr sz="1800">
                <a:solidFill>
                  <a:srgbClr val="232323"/>
                </a:solidFill>
                <a:latin typeface="Arial"/>
              </a:rPr>
              <a:t>e</a:t>
            </a:r>
            <a:r>
              <a:rPr sz="1300" baseline="30000">
                <a:solidFill>
                  <a:srgbClr val="232323"/>
                </a:solidFill>
                <a:latin typeface="Arial"/>
              </a:rPr>
              <a:t>−z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124712" y="4343400"/>
            <a:ext cx="1865376" cy="0"/>
          </a:xfrm>
          <a:prstGeom prst="line">
            <a:avLst/>
          </a:prstGeom>
          <a:ln w="1778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97280" y="4379976"/>
            <a:ext cx="1920240" cy="292608"/>
          </a:xfrm>
          <a:prstGeom prst="rect">
            <a:avLst/>
          </a:prstGeom>
          <a:noFill/>
        </p:spPr>
        <p:txBody>
          <a:bodyPr wrap="none" lIns="27432" tIns="0" rIns="27432" bIns="0">
            <a:normAutofit/>
          </a:bodyPr>
          <a:lstStyle/>
          <a:p>
            <a:pPr algn="ctr"/>
            <a:r>
              <a:rPr sz="1600">
                <a:solidFill>
                  <a:srgbClr val="232323"/>
                </a:solidFill>
                <a:latin typeface="Arial"/>
              </a:rPr>
              <a:t>(1 + e</a:t>
            </a:r>
            <a:r>
              <a:rPr sz="1100" baseline="30000">
                <a:solidFill>
                  <a:srgbClr val="232323"/>
                </a:solidFill>
                <a:latin typeface="Arial"/>
              </a:rPr>
              <a:t>−z</a:t>
            </a:r>
            <a:r>
              <a:rPr sz="1600">
                <a:solidFill>
                  <a:srgbClr val="232323"/>
                </a:solidFill>
                <a:latin typeface="Arial"/>
              </a:rPr>
              <a:t>)</a:t>
            </a:r>
            <a:r>
              <a:rPr sz="1100" baseline="30000">
                <a:solidFill>
                  <a:srgbClr val="232323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4270248"/>
            <a:ext cx="411480" cy="228600"/>
          </a:xfrm>
          <a:prstGeom prst="rect">
            <a:avLst/>
          </a:prstGeom>
          <a:noFill/>
        </p:spPr>
        <p:txBody>
          <a:bodyPr wrap="none" lIns="27432" tIns="0" rIns="27432" bIns="0">
            <a:normAutofit fontScale="92500" lnSpcReduction="20000"/>
          </a:bodyPr>
          <a:lstStyle/>
          <a:p>
            <a:pPr algn="l"/>
            <a:r>
              <a:rPr sz="1800">
                <a:solidFill>
                  <a:srgbClr val="232323"/>
                </a:solidFill>
                <a:latin typeface="Arial"/>
              </a:rPr>
              <a:t>= [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76472" y="4050791"/>
            <a:ext cx="1600200" cy="228600"/>
          </a:xfrm>
          <a:prstGeom prst="rect">
            <a:avLst/>
          </a:prstGeom>
          <a:noFill/>
        </p:spPr>
        <p:txBody>
          <a:bodyPr wrap="none" lIns="27432" tIns="0" rIns="27432" bIns="0">
            <a:normAutofit fontScale="92500" lnSpcReduction="20000"/>
          </a:bodyPr>
          <a:lstStyle/>
          <a:p>
            <a:pPr algn="ctr"/>
            <a:r>
              <a:rPr sz="1800">
                <a:solidFill>
                  <a:srgbClr val="232323"/>
                </a:solidFill>
                <a:latin typeface="Arial"/>
              </a:rPr>
              <a:t>1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803904" y="4343400"/>
            <a:ext cx="1545336" cy="0"/>
          </a:xfrm>
          <a:prstGeom prst="line">
            <a:avLst/>
          </a:prstGeom>
          <a:ln w="1778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776472" y="4379976"/>
            <a:ext cx="1600200" cy="292608"/>
          </a:xfrm>
          <a:prstGeom prst="rect">
            <a:avLst/>
          </a:prstGeom>
          <a:noFill/>
        </p:spPr>
        <p:txBody>
          <a:bodyPr wrap="none" lIns="27432" tIns="0" rIns="27432" bIns="0">
            <a:normAutofit/>
          </a:bodyPr>
          <a:lstStyle/>
          <a:p>
            <a:pPr algn="ctr"/>
            <a:r>
              <a:rPr sz="1600">
                <a:solidFill>
                  <a:srgbClr val="232323"/>
                </a:solidFill>
                <a:latin typeface="Arial"/>
              </a:rPr>
              <a:t>1 + e</a:t>
            </a:r>
            <a:r>
              <a:rPr sz="1100" baseline="30000">
                <a:solidFill>
                  <a:srgbClr val="232323"/>
                </a:solidFill>
                <a:latin typeface="Arial"/>
              </a:rPr>
              <a:t>−z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76672" y="4270248"/>
            <a:ext cx="411480" cy="228600"/>
          </a:xfrm>
          <a:prstGeom prst="rect">
            <a:avLst/>
          </a:prstGeom>
          <a:noFill/>
        </p:spPr>
        <p:txBody>
          <a:bodyPr wrap="none" lIns="27432" tIns="0" rIns="27432" bIns="0">
            <a:normAutofit fontScale="92500" lnSpcReduction="20000"/>
          </a:bodyPr>
          <a:lstStyle/>
          <a:p>
            <a:pPr algn="l"/>
            <a:r>
              <a:rPr sz="1800">
                <a:solidFill>
                  <a:srgbClr val="232323"/>
                </a:solidFill>
                <a:latin typeface="Arial"/>
              </a:rPr>
              <a:t>] [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87568" y="4050791"/>
            <a:ext cx="1600200" cy="228600"/>
          </a:xfrm>
          <a:prstGeom prst="rect">
            <a:avLst/>
          </a:prstGeom>
          <a:noFill/>
        </p:spPr>
        <p:txBody>
          <a:bodyPr wrap="none" lIns="27432" tIns="0" rIns="27432" bIns="0">
            <a:normAutofit fontScale="92500" lnSpcReduction="20000"/>
          </a:bodyPr>
          <a:lstStyle/>
          <a:p>
            <a:pPr algn="ctr"/>
            <a:r>
              <a:rPr sz="1800">
                <a:solidFill>
                  <a:srgbClr val="232323"/>
                </a:solidFill>
                <a:latin typeface="Arial"/>
              </a:rPr>
              <a:t>e</a:t>
            </a:r>
            <a:r>
              <a:rPr sz="1300" baseline="30000">
                <a:solidFill>
                  <a:srgbClr val="232323"/>
                </a:solidFill>
                <a:latin typeface="Arial"/>
              </a:rPr>
              <a:t>−z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715000" y="4343400"/>
            <a:ext cx="1545336" cy="0"/>
          </a:xfrm>
          <a:prstGeom prst="line">
            <a:avLst/>
          </a:prstGeom>
          <a:ln w="17780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687568" y="4379976"/>
            <a:ext cx="1600200" cy="292608"/>
          </a:xfrm>
          <a:prstGeom prst="rect">
            <a:avLst/>
          </a:prstGeom>
          <a:noFill/>
        </p:spPr>
        <p:txBody>
          <a:bodyPr wrap="none" lIns="27432" tIns="0" rIns="27432" bIns="0">
            <a:normAutofit/>
          </a:bodyPr>
          <a:lstStyle/>
          <a:p>
            <a:pPr algn="ctr"/>
            <a:r>
              <a:rPr sz="1600">
                <a:solidFill>
                  <a:srgbClr val="232323"/>
                </a:solidFill>
                <a:latin typeface="Arial"/>
              </a:rPr>
              <a:t>1 + e</a:t>
            </a:r>
            <a:r>
              <a:rPr sz="1100" baseline="30000">
                <a:solidFill>
                  <a:srgbClr val="232323"/>
                </a:solidFill>
                <a:latin typeface="Arial"/>
              </a:rPr>
              <a:t>−z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96912" y="4270248"/>
            <a:ext cx="182880" cy="228600"/>
          </a:xfrm>
          <a:prstGeom prst="rect">
            <a:avLst/>
          </a:prstGeom>
          <a:noFill/>
        </p:spPr>
        <p:txBody>
          <a:bodyPr wrap="none" lIns="27432" tIns="0" rIns="27432" bIns="0">
            <a:normAutofit fontScale="92500" lnSpcReduction="20000"/>
          </a:bodyPr>
          <a:lstStyle/>
          <a:p>
            <a:pPr algn="l"/>
            <a:r>
              <a:rPr sz="1800">
                <a:solidFill>
                  <a:srgbClr val="232323"/>
                </a:solidFill>
                <a:latin typeface="Arial"/>
              </a:rPr>
              <a:t>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956048"/>
            <a:ext cx="4023360" cy="320040"/>
          </a:xfrm>
          <a:prstGeom prst="rect">
            <a:avLst/>
          </a:prstGeom>
          <a:noFill/>
        </p:spPr>
        <p:txBody>
          <a:bodyPr wrap="none" lIns="27432" tIns="0" rIns="27432" bIns="0">
            <a:normAutofit/>
          </a:bodyPr>
          <a:lstStyle/>
          <a:p>
            <a:pPr algn="l"/>
            <a:r>
              <a:rPr sz="2000">
                <a:solidFill>
                  <a:srgbClr val="26734A"/>
                </a:solidFill>
                <a:latin typeface="DejaVu Sans"/>
              </a:rPr>
              <a:t>= σ(z)[1 − σ(z)]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559552"/>
            <a:ext cx="7223760" cy="292608"/>
          </a:xfrm>
          <a:prstGeom prst="rect">
            <a:avLst/>
          </a:prstGeom>
          <a:noFill/>
        </p:spPr>
        <p:txBody>
          <a:bodyPr wrap="square" lIns="27432" tIns="0" rIns="27432" bIns="0">
            <a:normAutofit/>
          </a:bodyPr>
          <a:lstStyle/>
          <a:p>
            <a:r>
              <a:rPr>
                <a:latin typeface="DejaVu Sans"/>
              </a:rPr>
              <a:t>Thus, for each sample i: dŷᵢ/dzᵢ = ŷᵢ(1 − ŷᵢ).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879592"/>
            <a:ext cx="7132320" cy="292608"/>
          </a:xfrm>
          <a:prstGeom prst="rect">
            <a:avLst/>
          </a:prstGeom>
          <a:noFill/>
        </p:spPr>
        <p:txBody>
          <a:bodyPr wrap="square" lIns="27432" tIns="0" rIns="27432" bIns="0">
            <a:normAutofit/>
          </a:bodyPr>
          <a:lstStyle/>
          <a:p>
            <a:r>
              <a:rPr>
                <a:latin typeface="DejaVu Sans"/>
              </a:rPr>
              <a:t>For weight wⱼ, also multiply by dzᵢ/dwⱼ = xᵢⱼ.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6419088"/>
            <a:ext cx="274320" cy="182880"/>
          </a:xfrm>
          <a:prstGeom prst="rect">
            <a:avLst/>
          </a:prstGeom>
          <a:noFill/>
        </p:spPr>
        <p:txBody>
          <a:bodyPr wrap="none" lIns="45720" tIns="18288" rIns="45720" bIns="18288" anchor="t">
            <a:normAutofit lnSpcReduction="10000"/>
          </a:bodyPr>
          <a:lstStyle/>
          <a:p>
            <a:r>
              <a:rPr sz="1000"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93408"/>
            <a:ext cx="9144000" cy="16459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rial"/>
              </a:rPr>
              <a:t>Deriving the Sigmoid + MSE Gradient</a:t>
            </a:r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 sz="2000" dirty="0">
                <a:latin typeface="DejaVu Sans"/>
              </a:rPr>
              <a:t>Set MSE loss = (1/n) Σᵢ(ŷᵢ − yᵢ)² and differentiate with respect to wⱼ.</a:t>
            </a:r>
          </a:p>
        </p:txBody>
      </p:sp>
      <p:sp>
        <p:nvSpPr>
          <p:cNvPr id="6" name="Shape 4"/>
          <p:cNvSpPr/>
          <p:nvPr/>
        </p:nvSpPr>
        <p:spPr>
          <a:xfrm>
            <a:off x="1531917" y="2331720"/>
            <a:ext cx="5913912" cy="1600200"/>
          </a:xfrm>
          <a:prstGeom prst="roundRect">
            <a:avLst>
              <a:gd name="adj" fmla="val 4571"/>
            </a:avLst>
          </a:prstGeom>
          <a:solidFill>
            <a:srgbClr val="E8F1FF"/>
          </a:solidFill>
          <a:ln w="12700">
            <a:solidFill>
              <a:srgbClr val="BED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698171" y="2478024"/>
            <a:ext cx="5114109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2800" dirty="0">
                <a:latin typeface="DejaVu Sans"/>
              </a:rPr>
              <a:t>ŷᵢ = σ(zᵢ)</a:t>
            </a:r>
          </a:p>
          <a:p>
            <a:r>
              <a:rPr sz="2800" dirty="0">
                <a:latin typeface="DejaVu Sans"/>
              </a:rPr>
              <a:t>zᵢ = Σₖ wₖ xᵢₖ + b</a:t>
            </a:r>
          </a:p>
          <a:p>
            <a:r>
              <a:rPr sz="2800" dirty="0">
                <a:latin typeface="DejaVu Sans"/>
              </a:rPr>
              <a:t>MSE loss = (1/n) Σᵢ(ŷᵢ − yᵢ)²</a:t>
            </a:r>
          </a:p>
        </p:txBody>
      </p:sp>
      <p:sp>
        <p:nvSpPr>
          <p:cNvPr id="8" name="Text 6"/>
          <p:cNvSpPr/>
          <p:nvPr/>
        </p:nvSpPr>
        <p:spPr>
          <a:xfrm>
            <a:off x="1005840" y="4617720"/>
            <a:ext cx="713232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>
                <a:latin typeface="DejaVu Sans"/>
              </a:rPr>
              <a:t>Key difference: σ′(z) cancels for BCE, but remains as σ′(z) = ŷ(1−ŷ) for MSE.</a:t>
            </a:r>
          </a:p>
        </p:txBody>
      </p:sp>
      <p:sp>
        <p:nvSpPr>
          <p:cNvPr id="9" name="Text 7"/>
          <p:cNvSpPr/>
          <p:nvPr/>
        </p:nvSpPr>
        <p:spPr>
          <a:xfrm>
            <a:off x="502920" y="6108192"/>
            <a:ext cx="84035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r>
              <a:rPr sz="2400" dirty="0">
                <a:latin typeface="DejaVu Sans"/>
              </a:rPr>
              <a:t>Convention: MSE over n samples, loss = (1/n) Σᵢ(ŷᵢ − yᵢ)²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93408"/>
            <a:ext cx="9144000" cy="16459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rial"/>
              </a:rPr>
              <a:t>3. Differentiate the Three Factors</a:t>
            </a:r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rial"/>
              </a:rPr>
              <a:t>Use the mean squared error convention.</a:t>
            </a:r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8680" y="1655064"/>
            <a:ext cx="324612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r>
              <a:rPr sz="2400" dirty="0">
                <a:latin typeface="DejaVu Sans"/>
              </a:rPr>
              <a:t>L = (1/n) Σᵢ(ŷᵢ − yᵢ)²</a:t>
            </a:r>
          </a:p>
          <a:p>
            <a:r>
              <a:rPr sz="2400" dirty="0" err="1">
                <a:latin typeface="Arial"/>
              </a:rPr>
              <a:t>dL</a:t>
            </a:r>
            <a:r>
              <a:rPr sz="2400" dirty="0">
                <a:latin typeface="Arial"/>
              </a:rPr>
              <a:t>/</a:t>
            </a:r>
            <a:r>
              <a:rPr sz="2400" dirty="0" err="1">
                <a:latin typeface="DejaVu Sans"/>
              </a:rPr>
              <a:t>dŷ</a:t>
            </a:r>
            <a:r>
              <a:rPr sz="2400" dirty="0">
                <a:latin typeface="DejaVu Sans"/>
              </a:rPr>
              <a:t>ᵢ = (2/n)(ŷᵢ − yᵢ)</a:t>
            </a:r>
          </a:p>
        </p:txBody>
      </p:sp>
      <p:sp>
        <p:nvSpPr>
          <p:cNvPr id="8" name="Shape 6"/>
          <p:cNvSpPr/>
          <p:nvPr/>
        </p:nvSpPr>
        <p:spPr>
          <a:xfrm>
            <a:off x="4754880" y="150876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E7F7EF"/>
          </a:solidFill>
          <a:ln w="12700">
            <a:solidFill>
              <a:srgbClr val="A8E2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937760" y="1655064"/>
            <a:ext cx="324612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r>
              <a:rPr sz="2800" dirty="0">
                <a:latin typeface="DejaVu Sans"/>
              </a:rPr>
              <a:t>ŷᵢ = σ(zᵢ)</a:t>
            </a:r>
          </a:p>
          <a:p>
            <a:r>
              <a:rPr sz="2800" dirty="0" err="1">
                <a:latin typeface="DejaVu Sans"/>
              </a:rPr>
              <a:t>dŷ</a:t>
            </a:r>
            <a:r>
              <a:rPr sz="2800" dirty="0">
                <a:latin typeface="DejaVu Sans"/>
              </a:rPr>
              <a:t>ᵢ/</a:t>
            </a:r>
            <a:r>
              <a:rPr sz="2800" dirty="0" err="1">
                <a:latin typeface="Arial"/>
              </a:rPr>
              <a:t>dz</a:t>
            </a:r>
            <a:r>
              <a:rPr sz="2800" dirty="0">
                <a:latin typeface="DejaVu Sans"/>
              </a:rPr>
              <a:t>ᵢ = ŷᵢ(1 − ŷᵢ)</a:t>
            </a:r>
          </a:p>
        </p:txBody>
      </p:sp>
      <p:sp>
        <p:nvSpPr>
          <p:cNvPr id="10" name="Shape 8"/>
          <p:cNvSpPr/>
          <p:nvPr/>
        </p:nvSpPr>
        <p:spPr>
          <a:xfrm>
            <a:off x="2240280" y="3401568"/>
            <a:ext cx="4663440" cy="1444752"/>
          </a:xfrm>
          <a:prstGeom prst="roundRect">
            <a:avLst>
              <a:gd name="adj" fmla="val 5063"/>
            </a:avLst>
          </a:prstGeom>
          <a:solidFill>
            <a:srgbClr val="E8F1FF"/>
          </a:solidFill>
          <a:ln w="12700">
            <a:solidFill>
              <a:srgbClr val="BED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423160" y="3547872"/>
            <a:ext cx="429768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r>
              <a:rPr sz="2800" dirty="0">
                <a:latin typeface="DejaVu Sans"/>
              </a:rPr>
              <a:t>zᵢ = Σₖ wₖ xᵢₖ + b</a:t>
            </a:r>
          </a:p>
          <a:p>
            <a:r>
              <a:rPr sz="2800" dirty="0" err="1">
                <a:latin typeface="Arial"/>
              </a:rPr>
              <a:t>dz</a:t>
            </a:r>
            <a:r>
              <a:rPr sz="2800" dirty="0">
                <a:latin typeface="DejaVu Sans"/>
              </a:rPr>
              <a:t>ᵢ/</a:t>
            </a:r>
            <a:r>
              <a:rPr sz="2800" dirty="0" err="1">
                <a:latin typeface="Arial"/>
              </a:rPr>
              <a:t>dw</a:t>
            </a:r>
            <a:r>
              <a:rPr sz="2800" dirty="0">
                <a:latin typeface="DejaVu Sans"/>
              </a:rPr>
              <a:t>ⱼ = xᵢⱼ</a:t>
            </a:r>
          </a:p>
          <a:p>
            <a:r>
              <a:rPr sz="2800" dirty="0" err="1">
                <a:latin typeface="Arial"/>
              </a:rPr>
              <a:t>dz</a:t>
            </a:r>
            <a:r>
              <a:rPr sz="2800" dirty="0">
                <a:latin typeface="DejaVu Sans"/>
              </a:rPr>
              <a:t>ᵢ/</a:t>
            </a:r>
            <a:r>
              <a:rPr sz="2800" dirty="0" err="1">
                <a:latin typeface="Arial"/>
              </a:rPr>
              <a:t>db</a:t>
            </a:r>
            <a:r>
              <a:rPr sz="2800" dirty="0">
                <a:latin typeface="Arial"/>
              </a:rPr>
              <a:t> = 1</a:t>
            </a:r>
          </a:p>
        </p:txBody>
      </p:sp>
      <p:sp>
        <p:nvSpPr>
          <p:cNvPr id="12" name="Text 10"/>
          <p:cNvSpPr/>
          <p:nvPr/>
        </p:nvSpPr>
        <p:spPr>
          <a:xfrm>
            <a:off x="822960" y="5486400"/>
            <a:ext cx="74980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r>
              <a:rPr>
                <a:latin typeface="DejaVu Sans"/>
              </a:rPr>
              <a:t>For MSE, dL/dŷᵢ = (2/n)(ŷᵢ−yᵢ). Multiply by dŷᵢ/dzᵢ = ŷᵢ(1−ŷᵢ), and by xᵢⱼ for wⱼ.</a:t>
            </a:r>
          </a:p>
        </p:txBody>
      </p:sp>
      <p:sp>
        <p:nvSpPr>
          <p:cNvPr id="13" name="Text 11"/>
          <p:cNvSpPr/>
          <p:nvPr/>
        </p:nvSpPr>
        <p:spPr>
          <a:xfrm>
            <a:off x="502920" y="63276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r>
              <a:rPr>
                <a:latin typeface="DejaVu Sans"/>
              </a:rPr>
              <a:t>With half-MSE loss = (1/2n)Σᵢ(ŷᵢ−yᵢ)², the factor of 2 disappears.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93408"/>
            <a:ext cx="9144000" cy="16459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dirty="0">
                <a:latin typeface="Arial"/>
              </a:rPr>
              <a:t>Final Gradient</a:t>
            </a:r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rial"/>
              </a:rPr>
              <a:t>Apply the chain rule using the three derivatives.</a:t>
            </a:r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7589520" cy="1554480"/>
          </a:xfrm>
          <a:prstGeom prst="roundRect">
            <a:avLst>
              <a:gd name="adj" fmla="val 4706"/>
            </a:avLst>
          </a:prstGeom>
          <a:solidFill>
            <a:srgbClr val="F1ECFF"/>
          </a:solidFill>
          <a:ln w="12700">
            <a:solidFill>
              <a:srgbClr val="D8B4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60120" y="1563624"/>
            <a:ext cx="72237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2800" dirty="0" err="1">
                <a:latin typeface="Arial"/>
              </a:rPr>
              <a:t>dL</a:t>
            </a:r>
            <a:r>
              <a:rPr sz="2800" dirty="0">
                <a:latin typeface="Arial"/>
              </a:rPr>
              <a:t>/</a:t>
            </a:r>
            <a:r>
              <a:rPr sz="2800" dirty="0" err="1">
                <a:latin typeface="Arial"/>
              </a:rPr>
              <a:t>dw</a:t>
            </a:r>
            <a:r>
              <a:rPr sz="2800" dirty="0">
                <a:latin typeface="DejaVu Sans"/>
              </a:rPr>
              <a:t>ⱼ</a:t>
            </a:r>
          </a:p>
          <a:p>
            <a:r>
              <a:rPr sz="2800" dirty="0">
                <a:latin typeface="DejaVu Sans"/>
              </a:rPr>
              <a:t>= Σᵢ (</a:t>
            </a:r>
            <a:r>
              <a:rPr sz="2800" dirty="0" err="1">
                <a:latin typeface="Arial"/>
              </a:rPr>
              <a:t>dL</a:t>
            </a:r>
            <a:r>
              <a:rPr sz="2800" dirty="0">
                <a:latin typeface="Arial"/>
              </a:rPr>
              <a:t>/</a:t>
            </a:r>
            <a:r>
              <a:rPr sz="2800" dirty="0" err="1">
                <a:latin typeface="DejaVu Sans"/>
              </a:rPr>
              <a:t>dŷ</a:t>
            </a:r>
            <a:r>
              <a:rPr sz="2800" dirty="0">
                <a:latin typeface="DejaVu Sans"/>
              </a:rPr>
              <a:t>ᵢ)(</a:t>
            </a:r>
            <a:r>
              <a:rPr sz="2800" dirty="0" err="1">
                <a:latin typeface="DejaVu Sans"/>
              </a:rPr>
              <a:t>dŷ</a:t>
            </a:r>
            <a:r>
              <a:rPr sz="2800" dirty="0">
                <a:latin typeface="DejaVu Sans"/>
              </a:rPr>
              <a:t>ᵢ/</a:t>
            </a:r>
            <a:r>
              <a:rPr sz="2800" dirty="0" err="1">
                <a:latin typeface="Arial"/>
              </a:rPr>
              <a:t>dz</a:t>
            </a:r>
            <a:r>
              <a:rPr sz="2800" dirty="0">
                <a:latin typeface="DejaVu Sans"/>
              </a:rPr>
              <a:t>ᵢ)(</a:t>
            </a:r>
            <a:r>
              <a:rPr sz="2800" dirty="0" err="1">
                <a:latin typeface="Arial"/>
              </a:rPr>
              <a:t>dz</a:t>
            </a:r>
            <a:r>
              <a:rPr sz="2800" dirty="0">
                <a:latin typeface="DejaVu Sans"/>
              </a:rPr>
              <a:t>ᵢ/</a:t>
            </a:r>
            <a:r>
              <a:rPr sz="2800" dirty="0" err="1">
                <a:latin typeface="Arial"/>
              </a:rPr>
              <a:t>dw</a:t>
            </a:r>
            <a:r>
              <a:rPr sz="2800" dirty="0">
                <a:latin typeface="DejaVu Sans"/>
              </a:rPr>
              <a:t>ⱼ)</a:t>
            </a:r>
          </a:p>
          <a:p>
            <a:r>
              <a:rPr sz="2800" dirty="0">
                <a:latin typeface="DejaVu Sans"/>
              </a:rPr>
              <a:t>= (2/n) Σᵢ(ŷᵢ − yᵢ) ŷᵢ(1 − ŷᵢ) xᵢⱼ</a:t>
            </a:r>
          </a:p>
        </p:txBody>
      </p:sp>
      <p:sp>
        <p:nvSpPr>
          <p:cNvPr id="8" name="Shape 6"/>
          <p:cNvSpPr/>
          <p:nvPr/>
        </p:nvSpPr>
        <p:spPr>
          <a:xfrm>
            <a:off x="960120" y="3401568"/>
            <a:ext cx="7223760" cy="749808"/>
          </a:xfrm>
          <a:prstGeom prst="roundRect">
            <a:avLst>
              <a:gd name="adj" fmla="val 9756"/>
            </a:avLst>
          </a:prstGeom>
          <a:solidFill>
            <a:srgbClr val="F4F6F8"/>
          </a:solidFill>
          <a:ln w="12700">
            <a:solidFill>
              <a:srgbClr val="CAD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143000" y="3547872"/>
            <a:ext cx="685800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>
                <a:latin typeface="DejaVu Sans"/>
              </a:rPr>
              <a:t>dL/db = (2/n) Σᵢ(ŷᵢ − yᵢ) ŷᵢ(1 − ŷᵢ)</a:t>
            </a:r>
          </a:p>
        </p:txBody>
      </p:sp>
      <p:sp>
        <p:nvSpPr>
          <p:cNvPr id="10" name="Shape 8"/>
          <p:cNvSpPr/>
          <p:nvPr/>
        </p:nvSpPr>
        <p:spPr>
          <a:xfrm>
            <a:off x="868680" y="4617720"/>
            <a:ext cx="7406640" cy="941832"/>
          </a:xfrm>
          <a:prstGeom prst="roundRect">
            <a:avLst>
              <a:gd name="adj" fmla="val 7767"/>
            </a:avLst>
          </a:prstGeom>
          <a:solidFill>
            <a:srgbClr val="E8F1FF"/>
          </a:solidFill>
          <a:ln w="12700">
            <a:solidFill>
              <a:srgbClr val="BED8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51560" y="4764024"/>
            <a:ext cx="70408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>
                <a:latin typeface="DejaVu Sans"/>
              </a:rPr>
              <a:t>wⱼ ← wⱼ − η (2/n) Σᵢ(ŷᵢ − yᵢ) ŷᵢ(1 − ŷᵢ) xᵢⱼ</a:t>
            </a:r>
          </a:p>
          <a:p>
            <a:r>
              <a:rPr>
                <a:latin typeface="DejaVu Sans"/>
              </a:rPr>
              <a:t>b ← b − η (2/n) Σᵢ(ŷᵢ − yᵢ) ŷᵢ(1 − ŷᵢ)</a:t>
            </a:r>
          </a:p>
        </p:txBody>
      </p:sp>
      <p:sp>
        <p:nvSpPr>
          <p:cNvPr id="12" name="Text 10"/>
          <p:cNvSpPr/>
          <p:nvPr/>
        </p:nvSpPr>
        <p:spPr>
          <a:xfrm>
            <a:off x="914400" y="5852160"/>
            <a:ext cx="7315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10000"/>
          </a:bodyPr>
          <a:lstStyle/>
          <a:p>
            <a:r>
              <a:rPr>
                <a:latin typeface="DejaVu Sans"/>
              </a:rPr>
              <a:t>Compared with BCE, the MSE gradient has an extra factor of ŷ(1−ŷ).</a:t>
            </a:r>
          </a:p>
        </p:txBody>
      </p:sp>
      <p:sp>
        <p:nvSpPr>
          <p:cNvPr id="13" name="Text 11"/>
          <p:cNvSpPr/>
          <p:nvPr/>
        </p:nvSpPr>
        <p:spPr>
          <a:xfrm>
            <a:off x="502920" y="63276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r>
              <a:rPr>
                <a:latin typeface="DejaVu Sans"/>
              </a:rPr>
              <a:t>For mean BCE + sigmoid: dL/dwⱼ = (1/n)Σᵢ(ŷᵢ−yᵢ)xᵢⱼ.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>
                <a:latin typeface="Arial"/>
              </a:rPr>
              <a:t>Comparison of Gradient Descent Updates</a:t>
            </a:r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8138160" cy="0"/>
          </a:xfrm>
          <a:prstGeom prst="line">
            <a:avLst/>
          </a:prstGeom>
          <a:noFill/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19" y="1249950"/>
            <a:ext cx="834419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sz="2400" dirty="0" err="1">
                <a:latin typeface="DejaVu Sans"/>
              </a:rPr>
              <a:t>wⱼ,new</a:t>
            </a:r>
            <a:r>
              <a:rPr sz="2400" dirty="0">
                <a:latin typeface="Arial"/>
              </a:rPr>
              <a:t> = </a:t>
            </a:r>
            <a:r>
              <a:rPr sz="2400" dirty="0" err="1">
                <a:latin typeface="DejaVu Sans"/>
              </a:rPr>
              <a:t>wⱼ,old</a:t>
            </a:r>
            <a:r>
              <a:rPr sz="2400" dirty="0">
                <a:latin typeface="DejaVu Sans"/>
              </a:rPr>
              <a:t> - η dL/</a:t>
            </a:r>
            <a:r>
              <a:rPr sz="2400" dirty="0" err="1">
                <a:latin typeface="Arial"/>
              </a:rPr>
              <a:t>dw</a:t>
            </a:r>
            <a:r>
              <a:rPr sz="2400" dirty="0">
                <a:latin typeface="DejaVu Sans"/>
              </a:rPr>
              <a:t>ⱼ        </a:t>
            </a:r>
            <a:r>
              <a:rPr sz="2400" dirty="0" err="1">
                <a:latin typeface="Arial"/>
              </a:rPr>
              <a:t>b_new</a:t>
            </a:r>
            <a:r>
              <a:rPr sz="2400" dirty="0">
                <a:latin typeface="Arial"/>
              </a:rPr>
              <a:t> = </a:t>
            </a:r>
            <a:r>
              <a:rPr sz="2400" dirty="0" err="1">
                <a:latin typeface="Arial"/>
              </a:rPr>
              <a:t>b_old</a:t>
            </a:r>
            <a:r>
              <a:rPr sz="2400" dirty="0">
                <a:latin typeface="DejaVu Sans"/>
              </a:rPr>
              <a:t> - η dL/</a:t>
            </a:r>
            <a:r>
              <a:rPr sz="2400" dirty="0" err="1">
                <a:latin typeface="Arial"/>
              </a:rPr>
              <a:t>db</a:t>
            </a:r>
            <a:endParaRPr sz="2400" dirty="0">
              <a:latin typeface="NanumGothic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8135" y="2579020"/>
            <a:ext cx="4066705" cy="3340782"/>
          </a:xfrm>
          <a:prstGeom prst="roundRect">
            <a:avLst>
              <a:gd name="adj" fmla="val 2667"/>
            </a:avLst>
          </a:prstGeom>
          <a:solidFill>
            <a:srgbClr val="FFF2E7"/>
          </a:solidFill>
          <a:ln w="15240">
            <a:solidFill>
              <a:srgbClr val="E3812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32104" y="3070508"/>
            <a:ext cx="34564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r>
              <a:rPr dirty="0">
                <a:latin typeface="Arial"/>
              </a:rPr>
              <a:t>MSE + sigmoid</a:t>
            </a:r>
          </a:p>
        </p:txBody>
      </p:sp>
      <p:sp>
        <p:nvSpPr>
          <p:cNvPr id="7" name="Text 5"/>
          <p:cNvSpPr/>
          <p:nvPr/>
        </p:nvSpPr>
        <p:spPr>
          <a:xfrm>
            <a:off x="832104" y="3436268"/>
            <a:ext cx="3602736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r>
              <a:rPr sz="1600" dirty="0" err="1">
                <a:latin typeface="Arial"/>
              </a:rPr>
              <a:t>For n samples and m input features</a:t>
            </a:r>
            <a:endParaRPr sz="1600" dirty="0">
              <a:latin typeface="NanumGothic"/>
            </a:endParaRPr>
          </a:p>
          <a:p>
            <a:r>
              <a:rPr sz="1600" dirty="0" err="1">
                <a:latin typeface="DejaVu Sans"/>
              </a:rPr>
              <a:t>MSE loss = (1/n) Σᵢ(ŷᵢ − yᵢ)²</a:t>
            </a:r>
          </a:p>
          <a:p>
            <a:r>
              <a:rPr sz="1600" dirty="0" err="1">
                <a:latin typeface="DejaVu Sans"/>
              </a:rPr>
              <a:t>zᵢ = Σₖ wₖ xᵢₖ + b</a:t>
            </a:r>
          </a:p>
          <a:p>
            <a:endParaRPr sz="1600" dirty="0" err="1">
              <a:latin typeface="DejaVu Sans"/>
            </a:endParaRPr>
          </a:p>
          <a:p>
            <a:r>
              <a:rPr sz="1600" dirty="0" err="1">
                <a:latin typeface="DejaVu Sans"/>
              </a:rPr>
              <a:t>dL/dwⱼ = (2/n) Σᵢ(ŷᵢ − yᵢ) ŷᵢ(1 − ŷᵢ) xᵢⱼ</a:t>
            </a:r>
          </a:p>
          <a:p>
            <a:r>
              <a:rPr sz="1600" dirty="0" err="1">
                <a:latin typeface="DejaVu Sans"/>
              </a:rPr>
              <a:t>dL/db = (2/n) Σᵢ(ŷᵢ − yᵢ) ŷᵢ(1 − ŷᵢ)</a:t>
            </a:r>
          </a:p>
          <a:p>
            <a:endParaRPr sz="1600" dirty="0" err="1">
              <a:latin typeface="DejaVu Sans"/>
            </a:endParaRPr>
          </a:p>
          <a:p>
            <a:r>
              <a:rPr sz="1600" dirty="0" err="1">
                <a:latin typeface="DejaVu Sans"/>
              </a:rPr>
              <a:t>wⱼ ← wⱼ − η dL/dwⱼ</a:t>
            </a:r>
          </a:p>
          <a:p>
            <a:r>
              <a:rPr sz="1600" dirty="0" err="1">
                <a:latin typeface="DejaVu Sans"/>
              </a:rPr>
              <a:t>b ← b − η dL/db</a:t>
            </a:r>
          </a:p>
        </p:txBody>
      </p:sp>
      <p:sp>
        <p:nvSpPr>
          <p:cNvPr id="8" name="Shape 6"/>
          <p:cNvSpPr/>
          <p:nvPr/>
        </p:nvSpPr>
        <p:spPr>
          <a:xfrm>
            <a:off x="4709160" y="2960780"/>
            <a:ext cx="3749040" cy="2743200"/>
          </a:xfrm>
          <a:prstGeom prst="roundRect">
            <a:avLst>
              <a:gd name="adj" fmla="val 2667"/>
            </a:avLst>
          </a:prstGeom>
          <a:solidFill>
            <a:srgbClr val="EAF8F1"/>
          </a:solidFill>
          <a:ln w="15240">
            <a:solidFill>
              <a:srgbClr val="19A97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855464" y="3070508"/>
            <a:ext cx="34564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r>
              <a:rPr>
                <a:latin typeface="Arial"/>
              </a:rPr>
              <a:t>BCE + sigmoid</a:t>
            </a:r>
          </a:p>
        </p:txBody>
      </p:sp>
      <p:sp>
        <p:nvSpPr>
          <p:cNvPr id="10" name="Text 8"/>
          <p:cNvSpPr/>
          <p:nvPr/>
        </p:nvSpPr>
        <p:spPr>
          <a:xfrm>
            <a:off x="4855464" y="3436268"/>
            <a:ext cx="3456432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>
                <a:latin typeface="Arial"/>
              </a:rPr>
              <a:t>Mean BCE + sigmoid</a:t>
            </a:r>
          </a:p>
          <a:p>
            <a:endParaRPr>
              <a:latin typeface="Arial"/>
            </a:endParaRPr>
          </a:p>
          <a:p>
            <a:r>
              <a:rPr>
                <a:latin typeface="DejaVu Sans"/>
              </a:rPr>
              <a:t>BCE loss = −(1/n) Σᵢ [yᵢ log ŷᵢ + (1 − yᵢ) log(1 − ŷᵢ)]</a:t>
            </a:r>
          </a:p>
          <a:p>
            <a:endParaRPr>
              <a:latin typeface="DejaVu Sans"/>
            </a:endParaRPr>
          </a:p>
          <a:p>
            <a:r>
              <a:rPr>
                <a:latin typeface="DejaVu Sans"/>
              </a:rPr>
              <a:t>dL/dwⱼ = (1/n) Σᵢ(ŷᵢ − yᵢ) xᵢⱼ</a:t>
            </a:r>
          </a:p>
          <a:p>
            <a:r>
              <a:rPr>
                <a:latin typeface="DejaVu Sans"/>
              </a:rPr>
              <a:t>dL/db = (1/n) Σᵢ(ŷᵢ − yᵢ)</a:t>
            </a:r>
          </a:p>
        </p:txBody>
      </p:sp>
      <p:sp>
        <p:nvSpPr>
          <p:cNvPr id="11" name="Text 9"/>
          <p:cNvSpPr/>
          <p:nvPr/>
        </p:nvSpPr>
        <p:spPr>
          <a:xfrm>
            <a:off x="925977" y="613562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 dirty="0" err="1">
                <a:latin typeface="Arial"/>
              </a:rPr>
              <a:t>MSE code requires sigmoid_derivative. For mean batch gradients, multiply by 1/n.</a:t>
            </a:r>
          </a:p>
        </p:txBody>
      </p:sp>
      <p:sp>
        <p:nvSpPr>
          <p:cNvPr id="12" name="Text 10"/>
          <p:cNvSpPr/>
          <p:nvPr/>
        </p:nvSpPr>
        <p:spPr>
          <a:xfrm>
            <a:off x="8439912" y="64556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00"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74320"/>
            <a:ext cx="8229600" cy="43891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r>
              <a:rPr>
                <a:latin typeface="Arial"/>
              </a:rPr>
              <a:t>7. Deriving the BCE + Sigmoid Gradient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0467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 lnSpcReduction="10000"/>
          </a:bodyPr>
          <a:lstStyle/>
          <a:p>
            <a:r>
              <a:rPr>
                <a:latin typeface="Arial"/>
              </a:rPr>
              <a:t>The sigmoid derivative cancels the denominator in the BCE derivative.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78992"/>
            <a:ext cx="8138160" cy="111556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207008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 fontScale="85000" lnSpcReduction="20000"/>
          </a:bodyPr>
          <a:lstStyle/>
          <a:p>
            <a:r>
              <a:rPr>
                <a:latin typeface="Arial"/>
              </a:rPr>
              <a:t>Loss and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7498079" cy="256032"/>
          </a:xfrm>
          <a:prstGeom prst="rect">
            <a:avLst/>
          </a:prstGeom>
          <a:noFill/>
        </p:spPr>
        <p:txBody>
          <a:bodyPr wrap="none" lIns="18288" tIns="0" rIns="18288" bIns="0">
            <a:normAutofit lnSpcReduction="10000"/>
          </a:bodyPr>
          <a:lstStyle/>
          <a:p>
            <a:pPr algn="l"/>
            <a:r>
              <a:rPr sz="1700">
                <a:solidFill>
                  <a:srgbClr val="232323"/>
                </a:solidFill>
                <a:latin typeface="DejaVu Sans"/>
              </a:rPr>
              <a:t>L = −(1/n) Σᵢ [ yᵢ log(ŷᵢ) + (1 − yᵢ) log(1 − ŷᵢ)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65376"/>
            <a:ext cx="7040880" cy="228600"/>
          </a:xfrm>
          <a:prstGeom prst="rect">
            <a:avLst/>
          </a:prstGeom>
          <a:noFill/>
        </p:spPr>
        <p:txBody>
          <a:bodyPr wrap="none" lIns="18288" tIns="0" rIns="18288" bIns="0">
            <a:normAutofit fontScale="92500" lnSpcReduction="10000"/>
          </a:bodyPr>
          <a:lstStyle/>
          <a:p>
            <a:pPr algn="l"/>
            <a:r>
              <a:rPr sz="1700">
                <a:solidFill>
                  <a:srgbClr val="232323"/>
                </a:solidFill>
                <a:latin typeface="DejaVu Sans"/>
              </a:rPr>
              <a:t>ŷᵢ = σ(zᵢ),   zᵢ = Σₖ wₖ xᵢₖ +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04872"/>
            <a:ext cx="3886200" cy="2148840"/>
          </a:xfrm>
          <a:prstGeom prst="roundRect">
            <a:avLst/>
          </a:prstGeom>
          <a:solidFill>
            <a:srgbClr val="FCFCFC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2542032"/>
            <a:ext cx="33832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 fontScale="85000" lnSpcReduction="20000"/>
          </a:bodyPr>
          <a:lstStyle/>
          <a:p>
            <a:r>
              <a:rPr>
                <a:latin typeface="DejaVu Sans"/>
              </a:rPr>
              <a:t>Derivative with respect to ŷᵢ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907792"/>
            <a:ext cx="685800" cy="219456"/>
          </a:xfrm>
          <a:prstGeom prst="rect">
            <a:avLst/>
          </a:prstGeom>
          <a:noFill/>
        </p:spPr>
        <p:txBody>
          <a:bodyPr wrap="none" lIns="18288" tIns="0" rIns="18288" bIns="0">
            <a:normAutofit fontScale="92500" lnSpcReduction="10000"/>
          </a:bodyPr>
          <a:lstStyle/>
          <a:p>
            <a:pPr algn="ctr"/>
            <a:r>
              <a:rPr sz="1700">
                <a:solidFill>
                  <a:srgbClr val="232323"/>
                </a:solidFill>
                <a:latin typeface="Arial"/>
              </a:rPr>
              <a:t>dL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5528" y="3191256"/>
            <a:ext cx="612648" cy="0"/>
          </a:xfrm>
          <a:prstGeom prst="line">
            <a:avLst/>
          </a:prstGeom>
          <a:ln w="17145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58952" y="3227832"/>
            <a:ext cx="685800" cy="274320"/>
          </a:xfrm>
          <a:prstGeom prst="rect">
            <a:avLst/>
          </a:prstGeom>
          <a:noFill/>
        </p:spPr>
        <p:txBody>
          <a:bodyPr wrap="none" lIns="18288" tIns="0" rIns="18288" bIns="0">
            <a:normAutofit/>
          </a:bodyPr>
          <a:lstStyle/>
          <a:p>
            <a:pPr algn="ctr"/>
            <a:r>
              <a:rPr sz="1500">
                <a:solidFill>
                  <a:srgbClr val="232323"/>
                </a:solidFill>
                <a:latin typeface="DejaVu Sans"/>
              </a:rPr>
              <a:t>dŷᵢ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3035808"/>
            <a:ext cx="2651760" cy="228600"/>
          </a:xfrm>
          <a:prstGeom prst="rect">
            <a:avLst/>
          </a:prstGeom>
          <a:noFill/>
        </p:spPr>
        <p:txBody>
          <a:bodyPr wrap="none" lIns="18288" tIns="0" rIns="18288" bIns="0">
            <a:normAutofit/>
          </a:bodyPr>
          <a:lstStyle/>
          <a:p>
            <a:pPr algn="l"/>
            <a:r>
              <a:rPr sz="1500">
                <a:solidFill>
                  <a:srgbClr val="232323"/>
                </a:solidFill>
                <a:latin typeface="DejaVu Sans"/>
              </a:rPr>
              <a:t> = (1/n)[ − yᵢ/ŷᵢ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3310128"/>
            <a:ext cx="2286000" cy="228600"/>
          </a:xfrm>
          <a:prstGeom prst="rect">
            <a:avLst/>
          </a:prstGeom>
          <a:noFill/>
        </p:spPr>
        <p:txBody>
          <a:bodyPr wrap="none" lIns="18288" tIns="0" rIns="18288" bIns="0">
            <a:normAutofit/>
          </a:bodyPr>
          <a:lstStyle/>
          <a:p>
            <a:pPr algn="l"/>
            <a:r>
              <a:rPr sz="1500">
                <a:solidFill>
                  <a:srgbClr val="232323"/>
                </a:solidFill>
                <a:latin typeface="DejaVu Sans"/>
              </a:rPr>
              <a:t>+ (1 − yᵢ)/(1 − ŷᵢ)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95344"/>
            <a:ext cx="320040" cy="228600"/>
          </a:xfrm>
          <a:prstGeom prst="rect">
            <a:avLst/>
          </a:prstGeom>
          <a:noFill/>
        </p:spPr>
        <p:txBody>
          <a:bodyPr wrap="none" lIns="18288" tIns="0" rIns="18288" bIns="0">
            <a:normAutofit fontScale="92500" lnSpcReduction="20000"/>
          </a:bodyPr>
          <a:lstStyle/>
          <a:p>
            <a:pPr algn="l"/>
            <a:r>
              <a:rPr sz="1800">
                <a:solidFill>
                  <a:srgbClr val="232323"/>
                </a:solidFill>
                <a:latin typeface="Arial"/>
              </a:rPr>
              <a:t> =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75887"/>
            <a:ext cx="2148840" cy="219456"/>
          </a:xfrm>
          <a:prstGeom prst="rect">
            <a:avLst/>
          </a:prstGeom>
          <a:noFill/>
        </p:spPr>
        <p:txBody>
          <a:bodyPr wrap="none" lIns="18288" tIns="0" rIns="18288" bIns="0">
            <a:normAutofit fontScale="92500" lnSpcReduction="10000"/>
          </a:bodyPr>
          <a:lstStyle/>
          <a:p>
            <a:pPr algn="ctr"/>
            <a:r>
              <a:rPr sz="1700">
                <a:solidFill>
                  <a:srgbClr val="232323"/>
                </a:solidFill>
                <a:latin typeface="DejaVu Sans"/>
              </a:rPr>
              <a:t>1/n (ŷᵢ − yᵢ)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33856" y="3959351"/>
            <a:ext cx="2075688" cy="0"/>
          </a:xfrm>
          <a:prstGeom prst="line">
            <a:avLst/>
          </a:prstGeom>
          <a:ln w="17145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97280" y="3995927"/>
            <a:ext cx="2148840" cy="274320"/>
          </a:xfrm>
          <a:prstGeom prst="rect">
            <a:avLst/>
          </a:prstGeom>
          <a:noFill/>
        </p:spPr>
        <p:txBody>
          <a:bodyPr wrap="none" lIns="18288" tIns="0" rIns="18288" bIns="0">
            <a:normAutofit/>
          </a:bodyPr>
          <a:lstStyle/>
          <a:p>
            <a:pPr algn="ctr"/>
            <a:r>
              <a:rPr sz="1500">
                <a:solidFill>
                  <a:srgbClr val="232323"/>
                </a:solidFill>
                <a:latin typeface="DejaVu Sans"/>
              </a:rPr>
              <a:t>ŷᵢ(1 − ŷᵢ)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45152" y="2404872"/>
            <a:ext cx="3995928" cy="2148840"/>
          </a:xfrm>
          <a:prstGeom prst="roundRect">
            <a:avLst/>
          </a:prstGeom>
          <a:solidFill>
            <a:srgbClr val="FCFCFC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64608" y="2542032"/>
            <a:ext cx="34747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 fontScale="85000" lnSpcReduction="20000"/>
          </a:bodyPr>
          <a:lstStyle/>
          <a:p>
            <a:r>
              <a:rPr>
                <a:latin typeface="Arial"/>
              </a:rPr>
              <a:t>Cancellation with sigmoid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8" y="2971800"/>
            <a:ext cx="3200400" cy="228600"/>
          </a:xfrm>
          <a:prstGeom prst="rect">
            <a:avLst/>
          </a:prstGeom>
          <a:noFill/>
        </p:spPr>
        <p:txBody>
          <a:bodyPr wrap="none" lIns="18288" tIns="0" rIns="18288" bIns="0">
            <a:normAutofit fontScale="92500" lnSpcReduction="10000"/>
          </a:bodyPr>
          <a:lstStyle/>
          <a:p>
            <a:pPr algn="l"/>
            <a:r>
              <a:rPr sz="1700">
                <a:solidFill>
                  <a:srgbClr val="232323"/>
                </a:solidFill>
                <a:latin typeface="DejaVu Sans"/>
              </a:rPr>
              <a:t>dŷᵢ/dzᵢ = ŷᵢ(1 − ŷᵢ)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8" y="3364992"/>
            <a:ext cx="3200400" cy="228600"/>
          </a:xfrm>
          <a:prstGeom prst="rect">
            <a:avLst/>
          </a:prstGeom>
          <a:noFill/>
        </p:spPr>
        <p:txBody>
          <a:bodyPr wrap="square" lIns="18288" tIns="0" rIns="18288" bIns="0">
            <a:normAutofit fontScale="92500" lnSpcReduction="20000"/>
          </a:bodyPr>
          <a:lstStyle/>
          <a:p>
            <a:r>
              <a:rPr>
                <a:latin typeface="Arial"/>
              </a:rPr>
              <a:t>Therefore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8" y="3657600"/>
            <a:ext cx="731520" cy="219456"/>
          </a:xfrm>
          <a:prstGeom prst="rect">
            <a:avLst/>
          </a:prstGeom>
          <a:noFill/>
        </p:spPr>
        <p:txBody>
          <a:bodyPr wrap="none" lIns="18288" tIns="0" rIns="18288" bIns="0">
            <a:normAutofit fontScale="92500" lnSpcReduction="10000"/>
          </a:bodyPr>
          <a:lstStyle/>
          <a:p>
            <a:pPr algn="ctr"/>
            <a:r>
              <a:rPr sz="1700">
                <a:solidFill>
                  <a:srgbClr val="232323"/>
                </a:solidFill>
                <a:latin typeface="Arial"/>
              </a:rPr>
              <a:t>dL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901184" y="3941063"/>
            <a:ext cx="658368" cy="0"/>
          </a:xfrm>
          <a:prstGeom prst="line">
            <a:avLst/>
          </a:prstGeom>
          <a:ln w="17145">
            <a:solidFill>
              <a:srgbClr val="232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864608" y="3977639"/>
            <a:ext cx="731520" cy="274320"/>
          </a:xfrm>
          <a:prstGeom prst="rect">
            <a:avLst/>
          </a:prstGeom>
          <a:noFill/>
        </p:spPr>
        <p:txBody>
          <a:bodyPr wrap="none" lIns="18288" tIns="0" rIns="18288" bIns="0">
            <a:normAutofit/>
          </a:bodyPr>
          <a:lstStyle/>
          <a:p>
            <a:pPr algn="ctr"/>
            <a:r>
              <a:rPr sz="1500">
                <a:solidFill>
                  <a:srgbClr val="232323"/>
                </a:solidFill>
                <a:latin typeface="DejaVu Sans"/>
              </a:rPr>
              <a:t>dzᵢ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96128" y="3840480"/>
            <a:ext cx="2286000" cy="256032"/>
          </a:xfrm>
          <a:prstGeom prst="rect">
            <a:avLst/>
          </a:prstGeom>
          <a:noFill/>
        </p:spPr>
        <p:txBody>
          <a:bodyPr wrap="none" lIns="18288" tIns="0" rIns="18288" bIns="0">
            <a:normAutofit lnSpcReduction="10000"/>
          </a:bodyPr>
          <a:lstStyle/>
          <a:p>
            <a:pPr algn="l"/>
            <a:r>
              <a:rPr sz="1700">
                <a:solidFill>
                  <a:srgbClr val="26734A"/>
                </a:solidFill>
                <a:latin typeface="DejaVu Sans"/>
              </a:rPr>
              <a:t> = 1/n (ŷᵢ − yᵢ)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773168"/>
            <a:ext cx="8138160" cy="129844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4892040"/>
            <a:ext cx="2743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 fontScale="85000" lnSpcReduction="20000"/>
          </a:bodyPr>
          <a:lstStyle/>
          <a:p>
            <a:r>
              <a:rPr>
                <a:latin typeface="Arial"/>
              </a:rPr>
              <a:t>Final batch gradients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285232"/>
            <a:ext cx="7498079" cy="256032"/>
          </a:xfrm>
          <a:prstGeom prst="rect">
            <a:avLst/>
          </a:prstGeom>
          <a:noFill/>
        </p:spPr>
        <p:txBody>
          <a:bodyPr wrap="none" lIns="18288" tIns="0" rIns="18288" bIns="0">
            <a:normAutofit/>
          </a:bodyPr>
          <a:lstStyle/>
          <a:p>
            <a:pPr algn="l"/>
            <a:r>
              <a:rPr sz="1600">
                <a:solidFill>
                  <a:srgbClr val="232323"/>
                </a:solidFill>
                <a:latin typeface="DejaVu Sans"/>
              </a:rPr>
              <a:t>dL/dwⱼ = Σᵢ (dL/dzᵢ)(dzᵢ/dwⱼ) = (1/n) Σᵢ(ŷᵢ − yᵢ)xᵢⱼ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614416"/>
            <a:ext cx="6400800" cy="256032"/>
          </a:xfrm>
          <a:prstGeom prst="rect">
            <a:avLst/>
          </a:prstGeom>
          <a:noFill/>
        </p:spPr>
        <p:txBody>
          <a:bodyPr wrap="none" lIns="18288" tIns="0" rIns="18288" bIns="0">
            <a:normAutofit/>
          </a:bodyPr>
          <a:lstStyle/>
          <a:p>
            <a:pPr algn="l"/>
            <a:r>
              <a:rPr sz="1600">
                <a:solidFill>
                  <a:srgbClr val="232323"/>
                </a:solidFill>
                <a:latin typeface="DejaVu Sans"/>
              </a:rPr>
              <a:t>dL/db = (1/n) Σᵢ(ŷᵢ − yᵢ)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6446520"/>
            <a:ext cx="27432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 lnSpcReduction="10000"/>
          </a:bodyPr>
          <a:lstStyle/>
          <a:p>
            <a:r>
              <a:rPr sz="1000"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93408"/>
            <a:ext cx="9144000" cy="16459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DejaVu Sans"/>
              </a:rPr>
              <a:t>5. Numerical Example: yᵢ = 1, ŷᵢ = 0.7, xᵢⱼ = 2, n samples</a:t>
            </a:r>
          </a:p>
        </p:txBody>
      </p:sp>
      <p:sp>
        <p:nvSpPr>
          <p:cNvPr id="5" name="Text 3"/>
          <p:cNvSpPr/>
          <p:nvPr/>
        </p:nvSpPr>
        <p:spPr>
          <a:xfrm>
            <a:off x="530352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rial"/>
              </a:rPr>
              <a:t>Why the MSE contribution to the j-th weight gradient is smaller than BCE</a:t>
            </a:r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8680" y="1563624"/>
            <a:ext cx="347472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>
                <a:latin typeface="Arial"/>
              </a:rPr>
              <a:t>MSE contribution:</a:t>
            </a:r>
          </a:p>
          <a:p>
            <a:r>
              <a:rPr>
                <a:latin typeface="DejaVu Sans"/>
              </a:rPr>
              <a:t>dL/dwⱼ = (2/n)(0.7−1)(0.7)(0.3)(2)</a:t>
            </a:r>
          </a:p>
          <a:p>
            <a:r>
              <a:rPr>
                <a:latin typeface="Arial"/>
              </a:rPr>
              <a:t>= −0.252/n</a:t>
            </a:r>
          </a:p>
        </p:txBody>
      </p:sp>
      <p:sp>
        <p:nvSpPr>
          <p:cNvPr id="8" name="Shape 6"/>
          <p:cNvSpPr/>
          <p:nvPr/>
        </p:nvSpPr>
        <p:spPr>
          <a:xfrm>
            <a:off x="4617720" y="141732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FDECEC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800600" y="1563624"/>
            <a:ext cx="347472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>
                <a:latin typeface="Arial"/>
              </a:rPr>
              <a:t>BCE contribution:</a:t>
            </a:r>
          </a:p>
          <a:p>
            <a:r>
              <a:rPr>
                <a:latin typeface="DejaVu Sans"/>
              </a:rPr>
              <a:t>dL/dwⱼ = (1/n)(0.7−1)(2)</a:t>
            </a:r>
          </a:p>
          <a:p>
            <a:r>
              <a:rPr>
                <a:latin typeface="Arial"/>
              </a:rPr>
              <a:t>= −0.600/n</a:t>
            </a:r>
          </a:p>
        </p:txBody>
      </p:sp>
      <p:sp>
        <p:nvSpPr>
          <p:cNvPr id="10" name="Text 8"/>
          <p:cNvSpPr/>
          <p:nvPr/>
        </p:nvSpPr>
        <p:spPr>
          <a:xfrm>
            <a:off x="868680" y="3703320"/>
            <a:ext cx="740664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>
                <a:latin typeface="DejaVu Sans"/>
              </a:rPr>
              <a:t>MSE includes another factor σ′(zᵢ) = ŷᵢ(1−ŷᵢ) = 0.21. Here its contribution is −0.252/n.</a:t>
            </a:r>
          </a:p>
        </p:txBody>
      </p:sp>
      <p:sp>
        <p:nvSpPr>
          <p:cNvPr id="11" name="Text 9"/>
          <p:cNvSpPr/>
          <p:nvPr/>
        </p:nvSpPr>
        <p:spPr>
          <a:xfrm>
            <a:off x="868680" y="4800600"/>
            <a:ext cx="740664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>
                <a:latin typeface="DejaVu Sans"/>
              </a:rPr>
              <a:t>Interpretation: As sigmoid saturates near 0 or 1, ŷᵢ(1−ŷᵢ) becomes very small, potentially slowing learning.</a:t>
            </a:r>
          </a:p>
        </p:txBody>
      </p:sp>
      <p:sp>
        <p:nvSpPr>
          <p:cNvPr id="12" name="Text 10"/>
          <p:cNvSpPr/>
          <p:nvPr/>
        </p:nvSpPr>
        <p:spPr>
          <a:xfrm>
            <a:off x="502920" y="58064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>
                <a:latin typeface="DejaVu Sans"/>
              </a:rPr>
              <a:t>With half-MSE loss = (1/2n)Σᵢ(ŷᵢ−yᵢ)², the MSE contribution is −0.126/n.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781" y="786384"/>
            <a:ext cx="809264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Simple Neural Network Example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66355" y="1353312"/>
            <a:ext cx="78183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DejaVu Sans" pitchFamily="34" charset="0"/>
                <a:ea typeface="Arial" pitchFamily="34" charset="-122"/>
                <a:cs typeface="Arial" pitchFamily="34" charset="-120"/>
              </a:rPr>
              <a:t>Threshold Classification: x &lt; 3 → 0,  x ≥ 3 → 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80072" y="1847088"/>
            <a:ext cx="34290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Pure Python · TensorFlow · Keras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492102" y="4754880"/>
            <a:ext cx="3463376" cy="0"/>
          </a:xfrm>
          <a:prstGeom prst="line">
            <a:avLst/>
          </a:prstGeom>
          <a:noFill/>
          <a:ln w="1397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 flipV="1">
            <a:off x="4492102" y="2240280"/>
            <a:ext cx="0" cy="2514600"/>
          </a:xfrm>
          <a:prstGeom prst="line">
            <a:avLst/>
          </a:prstGeom>
          <a:noFill/>
          <a:ln w="1397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024060" y="4681728"/>
            <a:ext cx="24003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300073" y="1984248"/>
            <a:ext cx="308617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492102" y="4709160"/>
            <a:ext cx="0" cy="91440"/>
          </a:xfrm>
          <a:prstGeom prst="line">
            <a:avLst/>
          </a:prstGeom>
          <a:noFill/>
          <a:ln w="762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450953" y="4828032"/>
            <a:ext cx="10973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184777" y="4709160"/>
            <a:ext cx="0" cy="91440"/>
          </a:xfrm>
          <a:prstGeom prst="line">
            <a:avLst/>
          </a:prstGeom>
          <a:noFill/>
          <a:ln w="762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143628" y="4828032"/>
            <a:ext cx="10973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877453" y="4709160"/>
            <a:ext cx="0" cy="91440"/>
          </a:xfrm>
          <a:prstGeom prst="line">
            <a:avLst/>
          </a:prstGeom>
          <a:noFill/>
          <a:ln w="762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836304" y="4828032"/>
            <a:ext cx="10973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570128" y="4709160"/>
            <a:ext cx="0" cy="91440"/>
          </a:xfrm>
          <a:prstGeom prst="line">
            <a:avLst/>
          </a:prstGeom>
          <a:noFill/>
          <a:ln w="762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528979" y="4828032"/>
            <a:ext cx="10973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262803" y="4709160"/>
            <a:ext cx="0" cy="91440"/>
          </a:xfrm>
          <a:prstGeom prst="line">
            <a:avLst/>
          </a:prstGeom>
          <a:noFill/>
          <a:ln w="762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221654" y="4828032"/>
            <a:ext cx="10973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955479" y="4709160"/>
            <a:ext cx="0" cy="91440"/>
          </a:xfrm>
          <a:prstGeom prst="line">
            <a:avLst/>
          </a:prstGeom>
          <a:noFill/>
          <a:ln w="762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914329" y="4828032"/>
            <a:ext cx="10973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492102" y="4754880"/>
            <a:ext cx="3463376" cy="0"/>
          </a:xfrm>
          <a:prstGeom prst="line">
            <a:avLst/>
          </a:prstGeom>
          <a:noFill/>
          <a:ln w="508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300073" y="4681728"/>
            <a:ext cx="150879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492102" y="3497580"/>
            <a:ext cx="3463376" cy="0"/>
          </a:xfrm>
          <a:prstGeom prst="line">
            <a:avLst/>
          </a:prstGeom>
          <a:noFill/>
          <a:ln w="508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300073" y="3424428"/>
            <a:ext cx="150879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0.5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492102" y="2240280"/>
            <a:ext cx="3463376" cy="0"/>
          </a:xfrm>
          <a:prstGeom prst="line">
            <a:avLst/>
          </a:prstGeom>
          <a:noFill/>
          <a:ln w="508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300073" y="2167128"/>
            <a:ext cx="150879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454382" y="4704588"/>
            <a:ext cx="75439" cy="100584"/>
          </a:xfrm>
          <a:prstGeom prst="ellipse">
            <a:avLst/>
          </a:prstGeom>
          <a:solidFill>
            <a:srgbClr val="2563EB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147057" y="4704588"/>
            <a:ext cx="75439" cy="100584"/>
          </a:xfrm>
          <a:prstGeom prst="ellipse">
            <a:avLst/>
          </a:prstGeom>
          <a:solidFill>
            <a:srgbClr val="2563EB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839733" y="4704588"/>
            <a:ext cx="75439" cy="100584"/>
          </a:xfrm>
          <a:prstGeom prst="ellipse">
            <a:avLst/>
          </a:prstGeom>
          <a:solidFill>
            <a:srgbClr val="2563EB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6532408" y="2189988"/>
            <a:ext cx="75439" cy="100584"/>
          </a:xfrm>
          <a:prstGeom prst="ellipse">
            <a:avLst/>
          </a:prstGeom>
          <a:solidFill>
            <a:srgbClr val="16A34A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7225083" y="2189988"/>
            <a:ext cx="75439" cy="100584"/>
          </a:xfrm>
          <a:prstGeom prst="ellipse">
            <a:avLst/>
          </a:prstGeom>
          <a:solidFill>
            <a:srgbClr val="16A34A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7917759" y="2189988"/>
            <a:ext cx="75439" cy="100584"/>
          </a:xfrm>
          <a:prstGeom prst="ellipse">
            <a:avLst/>
          </a:prstGeom>
          <a:solidFill>
            <a:srgbClr val="16A34A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6223790" y="2194560"/>
            <a:ext cx="0" cy="2651760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928889" y="1947672"/>
            <a:ext cx="58980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boundary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90061" y="4089197"/>
            <a:ext cx="658384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6" name="Shape 34"/>
          <p:cNvSpPr/>
          <p:nvPr/>
        </p:nvSpPr>
        <p:spPr>
          <a:xfrm>
            <a:off x="1892855" y="4089197"/>
            <a:ext cx="59666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7" name="Shape 35"/>
          <p:cNvSpPr/>
          <p:nvPr/>
        </p:nvSpPr>
        <p:spPr>
          <a:xfrm>
            <a:off x="3024453" y="4089197"/>
            <a:ext cx="59666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8" name="Text 36"/>
          <p:cNvSpPr/>
          <p:nvPr/>
        </p:nvSpPr>
        <p:spPr>
          <a:xfrm>
            <a:off x="493788" y="3957523"/>
            <a:ext cx="308617" cy="263347"/>
          </a:xfrm>
          <a:prstGeom prst="rect">
            <a:avLst/>
          </a:prstGeom>
          <a:solidFill>
            <a:srgbClr val="DBEAFE"/>
          </a:solidFill>
          <a:ln w="13970">
            <a:solidFill>
              <a:srgbClr val="BFDBFE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29967" y="3902659"/>
            <a:ext cx="432064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weight w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440216" y="3858768"/>
            <a:ext cx="485558" cy="460858"/>
          </a:xfrm>
          <a:prstGeom prst="rect">
            <a:avLst/>
          </a:prstGeom>
          <a:solidFill>
            <a:srgbClr val="F1F5F9"/>
          </a:solidFill>
          <a:ln w="13970">
            <a:solidFill>
              <a:srgbClr val="E2E8F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wx + b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514284" y="4379976"/>
            <a:ext cx="329192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7C3AED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bias b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 flipV="1">
            <a:off x="1687110" y="4215384"/>
            <a:ext cx="0" cy="13716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3" name="Text 41"/>
          <p:cNvSpPr/>
          <p:nvPr/>
        </p:nvSpPr>
        <p:spPr>
          <a:xfrm>
            <a:off x="2489516" y="3858768"/>
            <a:ext cx="526707" cy="460858"/>
          </a:xfrm>
          <a:prstGeom prst="rect">
            <a:avLst/>
          </a:prstGeom>
          <a:solidFill>
            <a:srgbClr val="06B6D4"/>
          </a:solidFill>
          <a:ln w="13970">
            <a:solidFill>
              <a:srgbClr val="06B6D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sigmoid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29344" y="3957523"/>
            <a:ext cx="308617" cy="263347"/>
          </a:xfrm>
          <a:prstGeom prst="rect">
            <a:avLst/>
          </a:prstGeom>
          <a:solidFill>
            <a:srgbClr val="DCFCE7"/>
          </a:solidFill>
          <a:ln w="13970">
            <a:solidFill>
              <a:srgbClr val="BBF7D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DejaVu Sans" pitchFamily="34" charset="0"/>
                <a:ea typeface="Arial" pitchFamily="34" charset="-122"/>
                <a:cs typeface="Arial" pitchFamily="34" charset="-120"/>
              </a:rPr>
              <a:t>ŷ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4937" y="2542032"/>
            <a:ext cx="8229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Learning objective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34937" y="2834640"/>
            <a:ext cx="366912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Implement the same one-neuron logistic classifier in three ways: manual calculations → automatic differentiation → high-level API.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39480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206" y="329184"/>
            <a:ext cx="8161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1. Problem Definition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22" y="786384"/>
            <a:ext cx="74068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Learn threshold classification using a small dataset.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14362" y="1207008"/>
            <a:ext cx="15773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Training data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9228" y="1691640"/>
            <a:ext cx="493788" cy="384048"/>
          </a:xfrm>
          <a:prstGeom prst="rect">
            <a:avLst/>
          </a:prstGeom>
          <a:solidFill>
            <a:srgbClr val="2563EB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63016" y="1691640"/>
            <a:ext cx="493788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6804" y="1691640"/>
            <a:ext cx="493788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50593" y="1691640"/>
            <a:ext cx="493788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44381" y="1691640"/>
            <a:ext cx="493788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38170" y="1691640"/>
            <a:ext cx="493788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31958" y="1691640"/>
            <a:ext cx="493788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9228" y="2075688"/>
            <a:ext cx="493788" cy="384048"/>
          </a:xfrm>
          <a:prstGeom prst="rect">
            <a:avLst/>
          </a:prstGeom>
          <a:solidFill>
            <a:srgbClr val="16A34A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63016" y="2075688"/>
            <a:ext cx="493788" cy="38404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56804" y="2075688"/>
            <a:ext cx="493788" cy="38404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50593" y="2075688"/>
            <a:ext cx="493788" cy="38404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44381" y="2075688"/>
            <a:ext cx="493788" cy="38404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38170" y="2075688"/>
            <a:ext cx="493788" cy="38404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31958" y="2075688"/>
            <a:ext cx="493788" cy="384048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4937" y="2834640"/>
            <a:ext cx="3051886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34937" y="2834640"/>
            <a:ext cx="41149" cy="9509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85817" y="2990088"/>
            <a:ext cx="28118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Key question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17" y="3328416"/>
            <a:ext cx="2811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Can a neural network learn to separate 0s and 1s from data, without being told the rule x = 3?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4937" y="4096512"/>
            <a:ext cx="3051886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34937" y="4096512"/>
            <a:ext cx="41149" cy="9509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85817" y="4251960"/>
            <a:ext cx="28118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Expected result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17" y="4590288"/>
            <a:ext cx="2811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If the decision boundary lies between x = 2 and x = 3, all training samples are classified correctly.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86357" y="5166360"/>
            <a:ext cx="3566249" cy="0"/>
          </a:xfrm>
          <a:prstGeom prst="line">
            <a:avLst/>
          </a:prstGeom>
          <a:noFill/>
          <a:ln w="1397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 flipV="1">
            <a:off x="4286357" y="1554480"/>
            <a:ext cx="0" cy="3611880"/>
          </a:xfrm>
          <a:prstGeom prst="line">
            <a:avLst/>
          </a:prstGeom>
          <a:noFill/>
          <a:ln w="1397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7921188" y="5093208"/>
            <a:ext cx="24003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094328" y="1298448"/>
            <a:ext cx="308617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286357" y="5120640"/>
            <a:ext cx="0" cy="91440"/>
          </a:xfrm>
          <a:prstGeom prst="line">
            <a:avLst/>
          </a:prstGeom>
          <a:noFill/>
          <a:ln w="762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245208" y="5239512"/>
            <a:ext cx="10973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999607" y="5120640"/>
            <a:ext cx="0" cy="91440"/>
          </a:xfrm>
          <a:prstGeom prst="line">
            <a:avLst/>
          </a:prstGeom>
          <a:noFill/>
          <a:ln w="762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958458" y="5239512"/>
            <a:ext cx="10973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712856" y="5120640"/>
            <a:ext cx="0" cy="91440"/>
          </a:xfrm>
          <a:prstGeom prst="line">
            <a:avLst/>
          </a:prstGeom>
          <a:noFill/>
          <a:ln w="762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671707" y="5239512"/>
            <a:ext cx="10973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426106" y="5120640"/>
            <a:ext cx="0" cy="91440"/>
          </a:xfrm>
          <a:prstGeom prst="line">
            <a:avLst/>
          </a:prstGeom>
          <a:noFill/>
          <a:ln w="762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384957" y="5239512"/>
            <a:ext cx="10973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139356" y="5120640"/>
            <a:ext cx="0" cy="91440"/>
          </a:xfrm>
          <a:prstGeom prst="line">
            <a:avLst/>
          </a:prstGeom>
          <a:noFill/>
          <a:ln w="762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7098207" y="5239512"/>
            <a:ext cx="10973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852606" y="5120640"/>
            <a:ext cx="0" cy="91440"/>
          </a:xfrm>
          <a:prstGeom prst="line">
            <a:avLst/>
          </a:prstGeom>
          <a:noFill/>
          <a:ln w="762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7811457" y="5239512"/>
            <a:ext cx="10973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286357" y="5166360"/>
            <a:ext cx="3566249" cy="0"/>
          </a:xfrm>
          <a:prstGeom prst="line">
            <a:avLst/>
          </a:prstGeom>
          <a:noFill/>
          <a:ln w="508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094328" y="5093208"/>
            <a:ext cx="150879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286357" y="3360420"/>
            <a:ext cx="3566249" cy="0"/>
          </a:xfrm>
          <a:prstGeom prst="line">
            <a:avLst/>
          </a:prstGeom>
          <a:noFill/>
          <a:ln w="508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4094328" y="3287268"/>
            <a:ext cx="150879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0.5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286357" y="1554480"/>
            <a:ext cx="3566249" cy="0"/>
          </a:xfrm>
          <a:prstGeom prst="line">
            <a:avLst/>
          </a:prstGeom>
          <a:noFill/>
          <a:ln w="508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4094328" y="1481328"/>
            <a:ext cx="150879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248637" y="5116068"/>
            <a:ext cx="75439" cy="100584"/>
          </a:xfrm>
          <a:prstGeom prst="ellipse">
            <a:avLst/>
          </a:prstGeom>
          <a:solidFill>
            <a:srgbClr val="2563EB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4961887" y="5116068"/>
            <a:ext cx="75439" cy="100584"/>
          </a:xfrm>
          <a:prstGeom prst="ellipse">
            <a:avLst/>
          </a:prstGeom>
          <a:solidFill>
            <a:srgbClr val="2563EB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5675136" y="5116068"/>
            <a:ext cx="75439" cy="100584"/>
          </a:xfrm>
          <a:prstGeom prst="ellipse">
            <a:avLst/>
          </a:prstGeom>
          <a:solidFill>
            <a:srgbClr val="2563EB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6388386" y="1504188"/>
            <a:ext cx="75439" cy="100584"/>
          </a:xfrm>
          <a:prstGeom prst="ellipse">
            <a:avLst/>
          </a:prstGeom>
          <a:solidFill>
            <a:srgbClr val="16A34A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7101636" y="1504188"/>
            <a:ext cx="75439" cy="100584"/>
          </a:xfrm>
          <a:prstGeom prst="ellipse">
            <a:avLst/>
          </a:prstGeom>
          <a:solidFill>
            <a:srgbClr val="16A34A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7814886" y="1504188"/>
            <a:ext cx="75439" cy="100584"/>
          </a:xfrm>
          <a:prstGeom prst="ellipse">
            <a:avLst/>
          </a:prstGeom>
          <a:solidFill>
            <a:srgbClr val="16A34A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6069481" y="1508760"/>
            <a:ext cx="0" cy="3749040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5774580" y="1261872"/>
            <a:ext cx="58980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boundary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321553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206" y="329184"/>
            <a:ext cx="8161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2. The Simplest Neural Network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22" y="786384"/>
            <a:ext cx="74068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One input, one output neuron, and one sigmoid activation function.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386722" y="2365553"/>
            <a:ext cx="1481365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868008" y="2365553"/>
            <a:ext cx="1342487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414104" y="2365553"/>
            <a:ext cx="1342487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0108" y="2069287"/>
            <a:ext cx="694389" cy="592531"/>
          </a:xfrm>
          <a:prstGeom prst="rect">
            <a:avLst/>
          </a:prstGeom>
          <a:solidFill>
            <a:srgbClr val="DBEAFE"/>
          </a:solidFill>
          <a:ln w="13970">
            <a:solidFill>
              <a:srgbClr val="BFDBFE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3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430" dirty="0"/>
          </a:p>
        </p:txBody>
      </p:sp>
      <p:sp>
        <p:nvSpPr>
          <p:cNvPr id="8" name="Text 6"/>
          <p:cNvSpPr/>
          <p:nvPr/>
        </p:nvSpPr>
        <p:spPr>
          <a:xfrm>
            <a:off x="1701512" y="1945843"/>
            <a:ext cx="972145" cy="3209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8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weight w</a:t>
            </a:r>
            <a:endParaRPr lang="en-US" sz="1148" dirty="0"/>
          </a:p>
        </p:txBody>
      </p:sp>
      <p:sp>
        <p:nvSpPr>
          <p:cNvPr id="9" name="Text 7"/>
          <p:cNvSpPr/>
          <p:nvPr/>
        </p:nvSpPr>
        <p:spPr>
          <a:xfrm>
            <a:off x="2849570" y="1847088"/>
            <a:ext cx="1092506" cy="1036930"/>
          </a:xfrm>
          <a:prstGeom prst="rect">
            <a:avLst/>
          </a:prstGeom>
          <a:solidFill>
            <a:srgbClr val="F1F5F9"/>
          </a:solidFill>
          <a:ln w="13970">
            <a:solidFill>
              <a:srgbClr val="E2E8F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wx + b</a:t>
            </a:r>
            <a:endParaRPr lang="en-US" sz="1890" dirty="0"/>
          </a:p>
        </p:txBody>
      </p:sp>
      <p:sp>
        <p:nvSpPr>
          <p:cNvPr id="10" name="Text 8"/>
          <p:cNvSpPr/>
          <p:nvPr/>
        </p:nvSpPr>
        <p:spPr>
          <a:xfrm>
            <a:off x="3016223" y="3019806"/>
            <a:ext cx="740682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7C3AED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bias b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 flipV="1">
            <a:off x="3405082" y="2649474"/>
            <a:ext cx="0" cy="30861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210495" y="1847088"/>
            <a:ext cx="1185091" cy="1036930"/>
          </a:xfrm>
          <a:prstGeom prst="rect">
            <a:avLst/>
          </a:prstGeom>
          <a:solidFill>
            <a:srgbClr val="06B6D4"/>
          </a:solidFill>
          <a:ln w="13970">
            <a:solidFill>
              <a:srgbClr val="06B6D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55" b="1" dirty="0">
                <a:solidFill>
                  <a:srgbClr val="FFFFFF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sigmoid</a:t>
            </a:r>
            <a:endParaRPr lang="en-US" sz="1755" dirty="0"/>
          </a:p>
        </p:txBody>
      </p:sp>
      <p:sp>
        <p:nvSpPr>
          <p:cNvPr id="13" name="Text 11"/>
          <p:cNvSpPr/>
          <p:nvPr/>
        </p:nvSpPr>
        <p:spPr>
          <a:xfrm>
            <a:off x="7775109" y="2069287"/>
            <a:ext cx="694389" cy="592531"/>
          </a:xfrm>
          <a:prstGeom prst="rect">
            <a:avLst/>
          </a:prstGeom>
          <a:solidFill>
            <a:srgbClr val="DCFCE7"/>
          </a:solidFill>
          <a:ln w="13970">
            <a:solidFill>
              <a:srgbClr val="BBF7D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30" b="1" dirty="0">
                <a:solidFill>
                  <a:srgbClr val="16A34A"/>
                </a:solidFill>
                <a:latin typeface="DejaVu Sans" pitchFamily="34" charset="0"/>
                <a:ea typeface="Arial" pitchFamily="34" charset="-122"/>
                <a:cs typeface="Arial" pitchFamily="34" charset="-120"/>
              </a:rPr>
              <a:t>ŷ</a:t>
            </a:r>
            <a:endParaRPr lang="en-US" sz="2430" dirty="0"/>
          </a:p>
        </p:txBody>
      </p:sp>
      <p:sp>
        <p:nvSpPr>
          <p:cNvPr id="14" name="Text 12"/>
          <p:cNvSpPr/>
          <p:nvPr/>
        </p:nvSpPr>
        <p:spPr>
          <a:xfrm>
            <a:off x="651526" y="3977640"/>
            <a:ext cx="1371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Forward pass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2100" y="4389120"/>
            <a:ext cx="322334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wx + b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DejaVu Sans" pitchFamily="34" charset="0"/>
                <a:ea typeface="Arial" pitchFamily="34" charset="-122"/>
                <a:cs typeface="Arial" pitchFamily="34" charset="-120"/>
              </a:rPr>
              <a:t>ŷ = sigmoid(z) = 1/(1 + exp(−z))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DejaVu Sans" pitchFamily="34" charset="0"/>
                <a:ea typeface="Arial" pitchFamily="34" charset="-122"/>
                <a:cs typeface="Arial" pitchFamily="34" charset="-120"/>
              </a:rPr>
              <a:t>ŷ ≥ 0.5 → class 1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DejaVu Sans" pitchFamily="34" charset="0"/>
                <a:ea typeface="Arial" pitchFamily="34" charset="-122"/>
                <a:cs typeface="Arial" pitchFamily="34" charset="-120"/>
              </a:rPr>
              <a:t>ŷ &lt; 0.5 → class 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40756" y="3977640"/>
            <a:ext cx="1611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Decision boundary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61330" y="4389120"/>
            <a:ext cx="2743268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sigmoid(0) = 0.5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wx + b = 0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boundary = −b/w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824406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206" y="329184"/>
            <a:ext cx="8161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3. What Changes During Training?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22" y="786384"/>
            <a:ext cx="74068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Initially all predictions are 0.5; training adjusts w and b and moves the decision boundary.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30951" y="1170432"/>
            <a:ext cx="1440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Before training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1526" y="4480560"/>
            <a:ext cx="2880432" cy="0"/>
          </a:xfrm>
          <a:prstGeom prst="line">
            <a:avLst/>
          </a:prstGeom>
          <a:noFill/>
          <a:ln w="1397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 flipV="1">
            <a:off x="651526" y="1783080"/>
            <a:ext cx="0" cy="2697480"/>
          </a:xfrm>
          <a:prstGeom prst="line">
            <a:avLst/>
          </a:prstGeom>
          <a:noFill/>
          <a:ln w="1397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00540" y="4407408"/>
            <a:ext cx="24003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9497" y="1527048"/>
            <a:ext cx="308617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1526" y="4434840"/>
            <a:ext cx="0" cy="91440"/>
          </a:xfrm>
          <a:prstGeom prst="line">
            <a:avLst/>
          </a:prstGeom>
          <a:noFill/>
          <a:ln w="762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10377" y="4553712"/>
            <a:ext cx="10973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227612" y="4434840"/>
            <a:ext cx="0" cy="91440"/>
          </a:xfrm>
          <a:prstGeom prst="line">
            <a:avLst/>
          </a:prstGeom>
          <a:noFill/>
          <a:ln w="762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186463" y="4553712"/>
            <a:ext cx="10973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803699" y="4434840"/>
            <a:ext cx="0" cy="91440"/>
          </a:xfrm>
          <a:prstGeom prst="line">
            <a:avLst/>
          </a:prstGeom>
          <a:noFill/>
          <a:ln w="762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762550" y="4553712"/>
            <a:ext cx="10973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379785" y="4434840"/>
            <a:ext cx="0" cy="91440"/>
          </a:xfrm>
          <a:prstGeom prst="line">
            <a:avLst/>
          </a:prstGeom>
          <a:noFill/>
          <a:ln w="762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338636" y="4553712"/>
            <a:ext cx="10973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955871" y="4434840"/>
            <a:ext cx="0" cy="91440"/>
          </a:xfrm>
          <a:prstGeom prst="line">
            <a:avLst/>
          </a:prstGeom>
          <a:noFill/>
          <a:ln w="762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914722" y="4553712"/>
            <a:ext cx="10973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531958" y="4434840"/>
            <a:ext cx="0" cy="91440"/>
          </a:xfrm>
          <a:prstGeom prst="line">
            <a:avLst/>
          </a:prstGeom>
          <a:noFill/>
          <a:ln w="762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490809" y="4553712"/>
            <a:ext cx="10973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51526" y="4480560"/>
            <a:ext cx="2880432" cy="0"/>
          </a:xfrm>
          <a:prstGeom prst="line">
            <a:avLst/>
          </a:prstGeom>
          <a:noFill/>
          <a:ln w="508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9497" y="4407408"/>
            <a:ext cx="150879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51526" y="3131820"/>
            <a:ext cx="2880432" cy="0"/>
          </a:xfrm>
          <a:prstGeom prst="line">
            <a:avLst/>
          </a:prstGeom>
          <a:noFill/>
          <a:ln w="508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59497" y="3058668"/>
            <a:ext cx="150879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0.5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51526" y="1783080"/>
            <a:ext cx="2880432" cy="0"/>
          </a:xfrm>
          <a:prstGeom prst="line">
            <a:avLst/>
          </a:prstGeom>
          <a:noFill/>
          <a:ln w="508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59497" y="1709928"/>
            <a:ext cx="150879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13806" y="4430268"/>
            <a:ext cx="75439" cy="100584"/>
          </a:xfrm>
          <a:prstGeom prst="ellipse">
            <a:avLst/>
          </a:prstGeom>
          <a:solidFill>
            <a:srgbClr val="2563EB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189892" y="4430268"/>
            <a:ext cx="75439" cy="100584"/>
          </a:xfrm>
          <a:prstGeom prst="ellipse">
            <a:avLst/>
          </a:prstGeom>
          <a:solidFill>
            <a:srgbClr val="2563EB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1765979" y="4430268"/>
            <a:ext cx="75439" cy="100584"/>
          </a:xfrm>
          <a:prstGeom prst="ellipse">
            <a:avLst/>
          </a:prstGeom>
          <a:solidFill>
            <a:srgbClr val="2563EB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2342065" y="1732788"/>
            <a:ext cx="75439" cy="100584"/>
          </a:xfrm>
          <a:prstGeom prst="ellipse">
            <a:avLst/>
          </a:prstGeom>
          <a:solidFill>
            <a:srgbClr val="16A34A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2918152" y="1732788"/>
            <a:ext cx="75439" cy="100584"/>
          </a:xfrm>
          <a:prstGeom prst="ellipse">
            <a:avLst/>
          </a:prstGeom>
          <a:solidFill>
            <a:srgbClr val="16A34A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3494238" y="1732788"/>
            <a:ext cx="75439" cy="100584"/>
          </a:xfrm>
          <a:prstGeom prst="ellipse">
            <a:avLst/>
          </a:prstGeom>
          <a:solidFill>
            <a:srgbClr val="16A34A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651526" y="3131820"/>
            <a:ext cx="2880432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371634" y="2834640"/>
            <a:ext cx="144021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all predictions = 0.5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354938" y="1170432"/>
            <a:ext cx="150879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Training loop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006465" y="2084832"/>
            <a:ext cx="13716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5726573" y="2084832"/>
            <a:ext cx="13716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6446681" y="2084832"/>
            <a:ext cx="13716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7166789" y="2084832"/>
            <a:ext cx="13716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354938" y="1755648"/>
            <a:ext cx="651526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Data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075046" y="1755648"/>
            <a:ext cx="651526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Prediction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795154" y="1755648"/>
            <a:ext cx="651526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Loss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515262" y="1755648"/>
            <a:ext cx="651526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Gradient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235371" y="1755648"/>
            <a:ext cx="651526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Update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 flipH="1">
            <a:off x="3646359" y="2505456"/>
            <a:ext cx="3931920" cy="56692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5452246" y="2962656"/>
            <a:ext cx="1508797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repeat 1000 epochs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354938" y="3977640"/>
            <a:ext cx="13716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Update rule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375513" y="4407408"/>
            <a:ext cx="2777559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  <a:latin typeface="DejaVu Sans" pitchFamily="34" charset="0"/>
                <a:ea typeface="Arial" pitchFamily="34" charset="-122"/>
                <a:cs typeface="Arial" pitchFamily="34" charset="-120"/>
              </a:rPr>
              <a:t>w ← w − η dw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  <a:latin typeface="DejaVu Sans" pitchFamily="34" charset="0"/>
                <a:ea typeface="Arial" pitchFamily="34" charset="-122"/>
                <a:cs typeface="Arial" pitchFamily="34" charset="-120"/>
              </a:rPr>
              <a:t>b ← b − η db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  <a:latin typeface="DejaVu Sans" pitchFamily="34" charset="0"/>
                <a:ea typeface="Arial" pitchFamily="34" charset="-122"/>
                <a:cs typeface="Arial" pitchFamily="34" charset="-120"/>
              </a:rPr>
              <a:t>η = learning rate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385439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206" y="329184"/>
            <a:ext cx="8161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4. Pure Python: Implement Every Calculation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22" y="786384"/>
            <a:ext cx="74068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Students can see the inner workings of gradient descent most clearly.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4937" y="1234440"/>
            <a:ext cx="2331778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34937" y="1234440"/>
            <a:ext cx="41149" cy="9326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17" y="1389888"/>
            <a:ext cx="20917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Model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17" y="1728216"/>
            <a:ext cx="20917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y_pred = sigmoid(w*x + b)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34937" y="2404872"/>
            <a:ext cx="2331778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34937" y="2404872"/>
            <a:ext cx="41149" cy="9326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17" y="2560320"/>
            <a:ext cx="20917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Gradient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17" y="2898648"/>
            <a:ext cx="20917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dw += error*x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db += error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4937" y="3575304"/>
            <a:ext cx="2331778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34937" y="3575304"/>
            <a:ext cx="41149" cy="9326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85817" y="3730752"/>
            <a:ext cx="20917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Update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17" y="4069080"/>
            <a:ext cx="20917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w -= learning_rate*dw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b -= learning_rate*db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2370" y="4937760"/>
            <a:ext cx="10973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Teaching point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2370" y="5285232"/>
            <a:ext cx="32919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Without libraries, the full learning cycle remains visible: prediction → error → gradient → parameter update.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874866" y="1234440"/>
            <a:ext cx="15087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Pure Python: key code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88583" y="1664208"/>
            <a:ext cx="4492102" cy="2971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Consolas" pitchFamily="34" charset="-122"/>
                <a:cs typeface="Consolas" pitchFamily="34" charset="-120"/>
              </a:rPr>
              <a:t>for epoch in range(1000):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Consolas" pitchFamily="34" charset="-122"/>
                <a:cs typeface="Consolas" pitchFamily="34" charset="-120"/>
              </a:rPr>
              <a:t>    dw = 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Consolas" pitchFamily="34" charset="-122"/>
                <a:cs typeface="Consolas" pitchFamily="34" charset="-120"/>
              </a:rPr>
              <a:t>    db = 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Consolas" pitchFamily="34" charset="-122"/>
                <a:cs typeface="Consolas" pitchFamily="34" charset="-120"/>
              </a:rPr>
              <a:t>    for x, y in zip(X, Y):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Consolas" pitchFamily="34" charset="-122"/>
                <a:cs typeface="Consolas" pitchFamily="34" charset="-120"/>
              </a:rPr>
              <a:t>        y_pred = sigmoid(w*x + b)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Consolas" pitchFamily="34" charset="-122"/>
                <a:cs typeface="Consolas" pitchFamily="34" charset="-120"/>
              </a:rPr>
              <a:t>        error = y_pred - 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Consolas" pitchFamily="34" charset="-122"/>
                <a:cs typeface="Consolas" pitchFamily="34" charset="-120"/>
              </a:rPr>
              <a:t>        dw += error*x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Consolas" pitchFamily="34" charset="-122"/>
                <a:cs typeface="Consolas" pitchFamily="34" charset="-120"/>
              </a:rPr>
              <a:t>        db += error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Consolas" pitchFamily="34" charset="-122"/>
                <a:cs typeface="Consolas" pitchFamily="34" charset="-120"/>
              </a:rPr>
              <a:t>    w -= learning_rate*dw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Consolas" pitchFamily="34" charset="-122"/>
                <a:cs typeface="Consolas" pitchFamily="34" charset="-120"/>
              </a:rPr>
              <a:t>    b -= learning_rate*db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071527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206" y="329184"/>
            <a:ext cx="8161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5. TensorFlow: Automatic Gradient Computation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22" y="786384"/>
            <a:ext cx="74068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We write the forward pass; GradientTape handles differentiation.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2370" y="1115568"/>
            <a:ext cx="10973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Same model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39714" y="1968155"/>
            <a:ext cx="57060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795469" y="1968155"/>
            <a:ext cx="51710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776187" y="1968155"/>
            <a:ext cx="517106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82944" y="1854037"/>
            <a:ext cx="267468" cy="228234"/>
          </a:xfrm>
          <a:prstGeom prst="rect">
            <a:avLst/>
          </a:prstGeom>
          <a:solidFill>
            <a:srgbClr val="DBEAFE"/>
          </a:solidFill>
          <a:ln w="13970">
            <a:solidFill>
              <a:srgbClr val="BFDBFE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36" dirty="0"/>
          </a:p>
        </p:txBody>
      </p:sp>
      <p:sp>
        <p:nvSpPr>
          <p:cNvPr id="9" name="Text 7"/>
          <p:cNvSpPr/>
          <p:nvPr/>
        </p:nvSpPr>
        <p:spPr>
          <a:xfrm>
            <a:off x="960966" y="1806489"/>
            <a:ext cx="374455" cy="1236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42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weight w</a:t>
            </a:r>
            <a:endParaRPr lang="en-US" sz="442" dirty="0"/>
          </a:p>
        </p:txBody>
      </p:sp>
      <p:sp>
        <p:nvSpPr>
          <p:cNvPr id="10" name="Text 8"/>
          <p:cNvSpPr/>
          <p:nvPr/>
        </p:nvSpPr>
        <p:spPr>
          <a:xfrm>
            <a:off x="1403181" y="1768450"/>
            <a:ext cx="420817" cy="399410"/>
          </a:xfrm>
          <a:prstGeom prst="rect">
            <a:avLst/>
          </a:prstGeom>
          <a:solidFill>
            <a:srgbClr val="F1F5F9"/>
          </a:solidFill>
          <a:ln w="13970">
            <a:solidFill>
              <a:srgbClr val="E2E8F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wx + b</a:t>
            </a:r>
            <a:endParaRPr lang="en-US" sz="728" dirty="0"/>
          </a:p>
        </p:txBody>
      </p:sp>
      <p:sp>
        <p:nvSpPr>
          <p:cNvPr id="11" name="Text 9"/>
          <p:cNvSpPr/>
          <p:nvPr/>
        </p:nvSpPr>
        <p:spPr>
          <a:xfrm>
            <a:off x="1467374" y="2220163"/>
            <a:ext cx="285299" cy="1046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16" dirty="0">
                <a:solidFill>
                  <a:srgbClr val="7C3AED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bias b</a:t>
            </a:r>
            <a:endParaRPr lang="en-US" sz="416" dirty="0"/>
          </a:p>
        </p:txBody>
      </p:sp>
      <p:sp>
        <p:nvSpPr>
          <p:cNvPr id="12" name="Shape 10"/>
          <p:cNvSpPr/>
          <p:nvPr/>
        </p:nvSpPr>
        <p:spPr>
          <a:xfrm flipV="1">
            <a:off x="1617156" y="2077517"/>
            <a:ext cx="0" cy="118872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312575" y="1768450"/>
            <a:ext cx="456480" cy="399410"/>
          </a:xfrm>
          <a:prstGeom prst="rect">
            <a:avLst/>
          </a:prstGeom>
          <a:solidFill>
            <a:srgbClr val="06B6D4"/>
          </a:solidFill>
          <a:ln w="13970">
            <a:solidFill>
              <a:srgbClr val="06B6D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76" b="1" dirty="0">
                <a:solidFill>
                  <a:srgbClr val="FFFFFF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sigmoid</a:t>
            </a:r>
            <a:endParaRPr lang="en-US" sz="676" dirty="0"/>
          </a:p>
        </p:txBody>
      </p:sp>
      <p:sp>
        <p:nvSpPr>
          <p:cNvPr id="14" name="Text 12"/>
          <p:cNvSpPr/>
          <p:nvPr/>
        </p:nvSpPr>
        <p:spPr>
          <a:xfrm>
            <a:off x="3300426" y="1854037"/>
            <a:ext cx="267468" cy="228234"/>
          </a:xfrm>
          <a:prstGeom prst="rect">
            <a:avLst/>
          </a:prstGeom>
          <a:solidFill>
            <a:srgbClr val="DCFCE7"/>
          </a:solidFill>
          <a:ln w="13970">
            <a:solidFill>
              <a:srgbClr val="BBF7D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16A34A"/>
                </a:solidFill>
                <a:latin typeface="DejaVu Sans" pitchFamily="34" charset="0"/>
                <a:ea typeface="Arial" pitchFamily="34" charset="-122"/>
                <a:cs typeface="Arial" pitchFamily="34" charset="-120"/>
              </a:rPr>
              <a:t>ŷ</a:t>
            </a:r>
            <a:endParaRPr lang="en-US" sz="936" dirty="0"/>
          </a:p>
        </p:txBody>
      </p:sp>
      <p:sp>
        <p:nvSpPr>
          <p:cNvPr id="15" name="Shape 13"/>
          <p:cNvSpPr/>
          <p:nvPr/>
        </p:nvSpPr>
        <p:spPr>
          <a:xfrm>
            <a:off x="562370" y="2788920"/>
            <a:ext cx="301759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62370" y="2788920"/>
            <a:ext cx="41149" cy="8229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13249" y="2944368"/>
            <a:ext cx="2777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Automatic differentiation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49" y="3282696"/>
            <a:ext cx="27775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tape.gradient(loss, [w, b]) computes dw and db.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2370" y="3840480"/>
            <a:ext cx="301759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62370" y="3840480"/>
            <a:ext cx="41149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13249" y="3995928"/>
            <a:ext cx="27775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Explicit parameter updates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49" y="4334256"/>
            <a:ext cx="27775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Parameter changes remain visible in code, e.g., w.assign_sub(learning_rate*dw).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991455" y="1115568"/>
            <a:ext cx="1611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TensorFlow: key code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012030" y="1554480"/>
            <a:ext cx="4354938" cy="2240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Consolas" pitchFamily="34" charset="-122"/>
                <a:cs typeface="Consolas" pitchFamily="34" charset="-120"/>
              </a:rPr>
              <a:t>with tf.GradientTape() as tape: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Consolas" pitchFamily="34" charset="-122"/>
                <a:cs typeface="Consolas" pitchFamily="34" charset="-120"/>
              </a:rPr>
              <a:t>    y_pred = tf.sigmoid(tf.matmul(X, w) + b)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Consolas" pitchFamily="34" charset="-122"/>
                <a:cs typeface="Consolas" pitchFamily="34" charset="-120"/>
              </a:rPr>
              <a:t>    loss = binary_crossentropy(Y, y_pred)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Consolas" pitchFamily="34" charset="-122"/>
                <a:cs typeface="Consolas" pitchFamily="34" charset="-120"/>
              </a:rPr>
              <a:t>dw, db = tape.gradient(loss, [w, b])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Consolas" pitchFamily="34" charset="-122"/>
                <a:cs typeface="Consolas" pitchFamily="34" charset="-120"/>
              </a:rPr>
              <a:t>w.assign_sub(learning_rate*dw)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Consolas" pitchFamily="34" charset="-122"/>
                <a:cs typeface="Consolas" pitchFamily="34" charset="-120"/>
              </a:rPr>
              <a:t>b.assign_sub(learning_rate*db)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012030" y="4160520"/>
            <a:ext cx="17488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Compared with Pure Python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012030" y="4498848"/>
            <a:ext cx="40463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The mathematical structure is the same, but derivatives need not be derived by hand. This is especially useful for deep networks.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6083575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206" y="329184"/>
            <a:ext cx="8161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6. Keras: Define the Network Using Layers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22" y="786384"/>
            <a:ext cx="74068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Model, loss function, optimizer, and training loop use a high-level API.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1526" y="1261872"/>
            <a:ext cx="1371634" cy="4937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Dense(1)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043735" y="1508760"/>
            <a:ext cx="548653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688403" y="1335024"/>
            <a:ext cx="19888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1 input → 1 output neuron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1526" y="2221992"/>
            <a:ext cx="1371634" cy="4937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compile()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43735" y="2468880"/>
            <a:ext cx="548653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688403" y="2295144"/>
            <a:ext cx="19888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SGD + binary crossentropy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1526" y="3182112"/>
            <a:ext cx="1371634" cy="4937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fit()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43735" y="3429000"/>
            <a:ext cx="548653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688403" y="3255264"/>
            <a:ext cx="19888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training loop hidden inside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1526" y="4142232"/>
            <a:ext cx="1371634" cy="4937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predict()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043735" y="4389120"/>
            <a:ext cx="548653" cy="0"/>
          </a:xfrm>
          <a:prstGeom prst="line">
            <a:avLst/>
          </a:prstGeom>
          <a:noFill/>
          <a:ln w="1397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688403" y="4215384"/>
            <a:ext cx="19888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trained model output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03592" y="1143000"/>
            <a:ext cx="1371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Keras: key code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24167" y="1572768"/>
            <a:ext cx="3980136" cy="3337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Consolas" pitchFamily="34" charset="-122"/>
                <a:cs typeface="Consolas" pitchFamily="34" charset="-120"/>
              </a:rPr>
              <a:t>model = keras.Sequential([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Consolas" pitchFamily="34" charset="-122"/>
                <a:cs typeface="Consolas" pitchFamily="34" charset="-120"/>
              </a:rPr>
              <a:t>    keras.layers.Dense(1, activation='sigmoid',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Consolas" pitchFamily="34" charset="-122"/>
                <a:cs typeface="Consolas" pitchFamily="34" charset="-120"/>
              </a:rPr>
              <a:t>                       input_shape=(1,))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Consolas" pitchFamily="34" charset="-122"/>
                <a:cs typeface="Consolas" pitchFamily="34" charset="-120"/>
              </a:rPr>
              <a:t>model.compile(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Consolas" pitchFamily="34" charset="-122"/>
                <a:cs typeface="Consolas" pitchFamily="34" charset="-120"/>
              </a:rPr>
              <a:t>    optimizer=SGD(learning_rate=0.1),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Consolas" pitchFamily="34" charset="-122"/>
                <a:cs typeface="Consolas" pitchFamily="34" charset="-120"/>
              </a:rPr>
              <a:t>    loss='binary_crossentropy'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Consolas" pitchFamily="34" charset="-122"/>
                <a:cs typeface="Consolas" pitchFamily="34" charset="-120"/>
              </a:rPr>
              <a:t>model.fit(X, Y, epochs=1000)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Consolas" pitchFamily="34" charset="-122"/>
                <a:cs typeface="Consolas" pitchFamily="34" charset="-120"/>
              </a:rPr>
              <a:t>prediction = model.predict(X)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72100" y="5349240"/>
            <a:ext cx="1097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Key message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34" y="5669280"/>
            <a:ext cx="65838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Keras is closest to real-world projects. However, studying Pure Python and TensorFlow first makes the underlying mechanism clearer.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5957218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206" y="329184"/>
            <a:ext cx="8161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7. Comparing Three Implementations: Same Model, Different Abstraction Levels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38922" y="786384"/>
            <a:ext cx="740682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All three programs use the same architecture: 1 input → 1 neuron → sigmoid → 1 output.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93788" y="1234440"/>
            <a:ext cx="822980" cy="438912"/>
          </a:xfrm>
          <a:prstGeom prst="rect">
            <a:avLst/>
          </a:prstGeom>
          <a:solidFill>
            <a:srgbClr val="0F172A"/>
          </a:solidFill>
          <a:ln w="8890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Item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316768" y="1234440"/>
            <a:ext cx="1063016" cy="438912"/>
          </a:xfrm>
          <a:prstGeom prst="rect">
            <a:avLst/>
          </a:prstGeom>
          <a:solidFill>
            <a:srgbClr val="2563EB"/>
          </a:solidFill>
          <a:ln w="8890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Pure Python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379785" y="1234440"/>
            <a:ext cx="1063016" cy="438912"/>
          </a:xfrm>
          <a:prstGeom prst="rect">
            <a:avLst/>
          </a:prstGeom>
          <a:solidFill>
            <a:srgbClr val="2563EB"/>
          </a:solidFill>
          <a:ln w="8890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TensorFlow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442802" y="1234440"/>
            <a:ext cx="1063016" cy="438912"/>
          </a:xfrm>
          <a:prstGeom prst="rect">
            <a:avLst/>
          </a:prstGeom>
          <a:solidFill>
            <a:srgbClr val="2563EB"/>
          </a:solidFill>
          <a:ln w="8890">
            <a:solidFill>
              <a:srgbClr val="FFF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Keras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88" y="1673352"/>
            <a:ext cx="8229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16768" y="1673352"/>
            <a:ext cx="1063016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Manual code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79785" y="1673352"/>
            <a:ext cx="1063016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Explicit definition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42802" y="1673352"/>
            <a:ext cx="1063016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Dense layer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3788" y="2112264"/>
            <a:ext cx="822980" cy="438912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16768" y="2112264"/>
            <a:ext cx="1063016" cy="438912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Manual code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379785" y="2112264"/>
            <a:ext cx="1063016" cy="438912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tf.sigmoid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42802" y="2112264"/>
            <a:ext cx="1063016" cy="438912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activation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88" y="2551176"/>
            <a:ext cx="8229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16768" y="2551176"/>
            <a:ext cx="1063016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Manual calculation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379785" y="2551176"/>
            <a:ext cx="1063016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GradientTape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42802" y="2551176"/>
            <a:ext cx="1063016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Automatic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88" y="2990088"/>
            <a:ext cx="822980" cy="438912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316768" y="2990088"/>
            <a:ext cx="1063016" cy="438912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Manual code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79785" y="2990088"/>
            <a:ext cx="1063016" cy="438912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assign_sub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42802" y="2990088"/>
            <a:ext cx="1063016" cy="438912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optimizer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788" y="3429000"/>
            <a:ext cx="82298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16768" y="3429000"/>
            <a:ext cx="1063016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Manual code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79785" y="3429000"/>
            <a:ext cx="1063016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Manual code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42802" y="3429000"/>
            <a:ext cx="1063016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fit()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3788" y="3867912"/>
            <a:ext cx="822980" cy="438912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316768" y="3867912"/>
            <a:ext cx="1063016" cy="438912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Understand principles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79785" y="3867912"/>
            <a:ext cx="1063016" cy="438912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Understand autodiff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42802" y="3867912"/>
            <a:ext cx="1063016" cy="438912"/>
          </a:xfrm>
          <a:prstGeom prst="rect">
            <a:avLst/>
          </a:prstGeom>
          <a:solidFill>
            <a:srgbClr val="F1F5F9"/>
          </a:solidFill>
          <a:ln w="8890"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Practical API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40756" y="4773168"/>
            <a:ext cx="3223340" cy="0"/>
          </a:xfrm>
          <a:prstGeom prst="line">
            <a:avLst/>
          </a:prstGeom>
          <a:noFill/>
          <a:ln w="1397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 flipV="1">
            <a:off x="5040756" y="1298448"/>
            <a:ext cx="0" cy="3474720"/>
          </a:xfrm>
          <a:prstGeom prst="line">
            <a:avLst/>
          </a:prstGeom>
          <a:noFill/>
          <a:ln w="13970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8332678" y="4700016"/>
            <a:ext cx="24003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48727" y="1042416"/>
            <a:ext cx="308617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DejaVu Sans" pitchFamily="34" charset="0"/>
                <a:ea typeface="Malgun Gothic" pitchFamily="34" charset="-122"/>
                <a:cs typeface="Malgun Gothic" pitchFamily="34" charset="-120"/>
              </a:rPr>
              <a:t>ŷ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040756" y="4736592"/>
            <a:ext cx="0" cy="73152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999607" y="4846320"/>
            <a:ext cx="10973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685424" y="4736592"/>
            <a:ext cx="0" cy="73152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644275" y="4846320"/>
            <a:ext cx="10973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330092" y="4736592"/>
            <a:ext cx="0" cy="73152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288943" y="4846320"/>
            <a:ext cx="10973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974760" y="4736592"/>
            <a:ext cx="0" cy="73152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6933611" y="4846320"/>
            <a:ext cx="10973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7619428" y="4736592"/>
            <a:ext cx="0" cy="73152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7578279" y="4846320"/>
            <a:ext cx="10973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8264096" y="4736592"/>
            <a:ext cx="0" cy="73152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8222947" y="4846320"/>
            <a:ext cx="10973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040756" y="4773168"/>
            <a:ext cx="3223340" cy="0"/>
          </a:xfrm>
          <a:prstGeom prst="line">
            <a:avLst/>
          </a:prstGeom>
          <a:noFill/>
          <a:ln w="508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4848727" y="4700016"/>
            <a:ext cx="150879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040756" y="3035808"/>
            <a:ext cx="3223340" cy="0"/>
          </a:xfrm>
          <a:prstGeom prst="line">
            <a:avLst/>
          </a:prstGeom>
          <a:noFill/>
          <a:ln w="508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4848727" y="2962656"/>
            <a:ext cx="150879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0.5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040756" y="1298448"/>
            <a:ext cx="3223340" cy="0"/>
          </a:xfrm>
          <a:prstGeom prst="line">
            <a:avLst/>
          </a:prstGeom>
          <a:noFill/>
          <a:ln w="5080">
            <a:solidFill>
              <a:srgbClr val="CBD5E1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4848727" y="1225296"/>
            <a:ext cx="150879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 flipV="1">
            <a:off x="5040756" y="4763171"/>
            <a:ext cx="40801" cy="1405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 flipV="1">
            <a:off x="5081557" y="4761537"/>
            <a:ext cx="40801" cy="1634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 flipV="1">
            <a:off x="5122359" y="4759636"/>
            <a:ext cx="40801" cy="1901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 flipV="1">
            <a:off x="5163161" y="4757426"/>
            <a:ext cx="40801" cy="2210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 flipV="1">
            <a:off x="5203963" y="4754857"/>
            <a:ext cx="40801" cy="2569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 flipV="1">
            <a:off x="5244764" y="4751872"/>
            <a:ext cx="40801" cy="2985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 flipV="1">
            <a:off x="5285566" y="4748403"/>
            <a:ext cx="40801" cy="3469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 flipV="1">
            <a:off x="5326368" y="4744375"/>
            <a:ext cx="40801" cy="4029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 flipV="1">
            <a:off x="5367170" y="4739697"/>
            <a:ext cx="40801" cy="4678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 flipV="1">
            <a:off x="5407972" y="4734268"/>
            <a:ext cx="40801" cy="5429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 flipV="1">
            <a:off x="5448773" y="4727970"/>
            <a:ext cx="40801" cy="6298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 flipV="1">
            <a:off x="5489575" y="4720668"/>
            <a:ext cx="40801" cy="7302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 flipV="1">
            <a:off x="5530377" y="4712206"/>
            <a:ext cx="40801" cy="8461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 flipV="1">
            <a:off x="5571179" y="4702409"/>
            <a:ext cx="40801" cy="9797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 flipV="1">
            <a:off x="5611980" y="4691076"/>
            <a:ext cx="40801" cy="11333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 flipV="1">
            <a:off x="5652782" y="4677978"/>
            <a:ext cx="40801" cy="13098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 flipV="1">
            <a:off x="5693584" y="4662859"/>
            <a:ext cx="40801" cy="15119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 flipV="1">
            <a:off x="5734386" y="4645429"/>
            <a:ext cx="40801" cy="17430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 flipV="1">
            <a:off x="5775187" y="4625366"/>
            <a:ext cx="40801" cy="20063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 flipV="1">
            <a:off x="5815989" y="4602311"/>
            <a:ext cx="40801" cy="23054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 flipV="1">
            <a:off x="5856791" y="4575876"/>
            <a:ext cx="40801" cy="26436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 flipV="1">
            <a:off x="5897593" y="4545630"/>
            <a:ext cx="40801" cy="30245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 flipV="1">
            <a:off x="5938395" y="4511119"/>
            <a:ext cx="40801" cy="34511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 flipV="1">
            <a:off x="5979196" y="4471861"/>
            <a:ext cx="40801" cy="39259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 flipV="1">
            <a:off x="6019998" y="4427352"/>
            <a:ext cx="40801" cy="44508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 flipV="1">
            <a:off x="6060800" y="4377090"/>
            <a:ext cx="40801" cy="50262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 flipV="1">
            <a:off x="6101602" y="4320579"/>
            <a:ext cx="40801" cy="56511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 flipV="1">
            <a:off x="6142403" y="4257357"/>
            <a:ext cx="40801" cy="63222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 flipV="1">
            <a:off x="6183205" y="4187016"/>
            <a:ext cx="40801" cy="70341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1"/>
          <p:cNvSpPr/>
          <p:nvPr/>
        </p:nvSpPr>
        <p:spPr>
          <a:xfrm flipV="1">
            <a:off x="6224007" y="4109235"/>
            <a:ext cx="40801" cy="77781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2"/>
          <p:cNvSpPr/>
          <p:nvPr/>
        </p:nvSpPr>
        <p:spPr>
          <a:xfrm flipV="1">
            <a:off x="6264809" y="4023810"/>
            <a:ext cx="40801" cy="85425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83"/>
          <p:cNvSpPr/>
          <p:nvPr/>
        </p:nvSpPr>
        <p:spPr>
          <a:xfrm flipV="1">
            <a:off x="6305610" y="3930688"/>
            <a:ext cx="40801" cy="93122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4"/>
          <p:cNvSpPr/>
          <p:nvPr/>
        </p:nvSpPr>
        <p:spPr>
          <a:xfrm flipV="1">
            <a:off x="6346412" y="3829999"/>
            <a:ext cx="40801" cy="100689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5"/>
          <p:cNvSpPr/>
          <p:nvPr/>
        </p:nvSpPr>
        <p:spPr>
          <a:xfrm flipV="1">
            <a:off x="6387214" y="3722081"/>
            <a:ext cx="40801" cy="107918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86"/>
          <p:cNvSpPr/>
          <p:nvPr/>
        </p:nvSpPr>
        <p:spPr>
          <a:xfrm flipV="1">
            <a:off x="6428016" y="3607501"/>
            <a:ext cx="40801" cy="114580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87"/>
          <p:cNvSpPr/>
          <p:nvPr/>
        </p:nvSpPr>
        <p:spPr>
          <a:xfrm flipV="1">
            <a:off x="6468818" y="3487059"/>
            <a:ext cx="40801" cy="120442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88"/>
          <p:cNvSpPr/>
          <p:nvPr/>
        </p:nvSpPr>
        <p:spPr>
          <a:xfrm flipV="1">
            <a:off x="6509619" y="3361779"/>
            <a:ext cx="40801" cy="125280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Shape 89"/>
          <p:cNvSpPr/>
          <p:nvPr/>
        </p:nvSpPr>
        <p:spPr>
          <a:xfrm flipV="1">
            <a:off x="6550421" y="3232884"/>
            <a:ext cx="40801" cy="128895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Shape 90"/>
          <p:cNvSpPr/>
          <p:nvPr/>
        </p:nvSpPr>
        <p:spPr>
          <a:xfrm flipV="1">
            <a:off x="6591223" y="3101752"/>
            <a:ext cx="40801" cy="131131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Shape 91"/>
          <p:cNvSpPr/>
          <p:nvPr/>
        </p:nvSpPr>
        <p:spPr>
          <a:xfrm flipV="1">
            <a:off x="6632025" y="2969864"/>
            <a:ext cx="40801" cy="131888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Shape 92"/>
          <p:cNvSpPr/>
          <p:nvPr/>
        </p:nvSpPr>
        <p:spPr>
          <a:xfrm flipV="1">
            <a:off x="6672827" y="2838733"/>
            <a:ext cx="40801" cy="131131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Shape 93"/>
          <p:cNvSpPr/>
          <p:nvPr/>
        </p:nvSpPr>
        <p:spPr>
          <a:xfrm flipV="1">
            <a:off x="6713629" y="2709838"/>
            <a:ext cx="40801" cy="128895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Shape 94"/>
          <p:cNvSpPr/>
          <p:nvPr/>
        </p:nvSpPr>
        <p:spPr>
          <a:xfrm flipV="1">
            <a:off x="6754431" y="2584557"/>
            <a:ext cx="40801" cy="125280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Shape 95"/>
          <p:cNvSpPr/>
          <p:nvPr/>
        </p:nvSpPr>
        <p:spPr>
          <a:xfrm flipV="1">
            <a:off x="6795232" y="2464115"/>
            <a:ext cx="40801" cy="120442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Shape 96"/>
          <p:cNvSpPr/>
          <p:nvPr/>
        </p:nvSpPr>
        <p:spPr>
          <a:xfrm flipV="1">
            <a:off x="6836034" y="2349535"/>
            <a:ext cx="40801" cy="114580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Shape 97"/>
          <p:cNvSpPr/>
          <p:nvPr/>
        </p:nvSpPr>
        <p:spPr>
          <a:xfrm flipV="1">
            <a:off x="6876836" y="2241617"/>
            <a:ext cx="40801" cy="107918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Shape 98"/>
          <p:cNvSpPr/>
          <p:nvPr/>
        </p:nvSpPr>
        <p:spPr>
          <a:xfrm flipV="1">
            <a:off x="6917638" y="2140928"/>
            <a:ext cx="40801" cy="100689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Shape 99"/>
          <p:cNvSpPr/>
          <p:nvPr/>
        </p:nvSpPr>
        <p:spPr>
          <a:xfrm flipV="1">
            <a:off x="6958440" y="2047806"/>
            <a:ext cx="40801" cy="93122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Shape 100"/>
          <p:cNvSpPr/>
          <p:nvPr/>
        </p:nvSpPr>
        <p:spPr>
          <a:xfrm flipV="1">
            <a:off x="6999241" y="1962381"/>
            <a:ext cx="40801" cy="85425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Shape 101"/>
          <p:cNvSpPr/>
          <p:nvPr/>
        </p:nvSpPr>
        <p:spPr>
          <a:xfrm flipV="1">
            <a:off x="7040043" y="1884600"/>
            <a:ext cx="40801" cy="77781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Shape 102"/>
          <p:cNvSpPr/>
          <p:nvPr/>
        </p:nvSpPr>
        <p:spPr>
          <a:xfrm flipV="1">
            <a:off x="7080845" y="1814259"/>
            <a:ext cx="40801" cy="70341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Shape 103"/>
          <p:cNvSpPr/>
          <p:nvPr/>
        </p:nvSpPr>
        <p:spPr>
          <a:xfrm flipV="1">
            <a:off x="7121647" y="1751037"/>
            <a:ext cx="40801" cy="63222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Shape 104"/>
          <p:cNvSpPr/>
          <p:nvPr/>
        </p:nvSpPr>
        <p:spPr>
          <a:xfrm flipV="1">
            <a:off x="7162448" y="1694526"/>
            <a:ext cx="40801" cy="56511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Shape 105"/>
          <p:cNvSpPr/>
          <p:nvPr/>
        </p:nvSpPr>
        <p:spPr>
          <a:xfrm flipV="1">
            <a:off x="7203250" y="1644264"/>
            <a:ext cx="40801" cy="50262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Shape 106"/>
          <p:cNvSpPr/>
          <p:nvPr/>
        </p:nvSpPr>
        <p:spPr>
          <a:xfrm flipV="1">
            <a:off x="7244052" y="1599756"/>
            <a:ext cx="40801" cy="44508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Shape 107"/>
          <p:cNvSpPr/>
          <p:nvPr/>
        </p:nvSpPr>
        <p:spPr>
          <a:xfrm flipV="1">
            <a:off x="7284854" y="1560497"/>
            <a:ext cx="40801" cy="39259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Shape 108"/>
          <p:cNvSpPr/>
          <p:nvPr/>
        </p:nvSpPr>
        <p:spPr>
          <a:xfrm flipV="1">
            <a:off x="7325656" y="1525985"/>
            <a:ext cx="40801" cy="34511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Shape 109"/>
          <p:cNvSpPr/>
          <p:nvPr/>
        </p:nvSpPr>
        <p:spPr>
          <a:xfrm flipV="1">
            <a:off x="7366457" y="1495741"/>
            <a:ext cx="40801" cy="30245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Shape 110"/>
          <p:cNvSpPr/>
          <p:nvPr/>
        </p:nvSpPr>
        <p:spPr>
          <a:xfrm flipV="1">
            <a:off x="7407259" y="1469305"/>
            <a:ext cx="40801" cy="26436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Shape 111"/>
          <p:cNvSpPr/>
          <p:nvPr/>
        </p:nvSpPr>
        <p:spPr>
          <a:xfrm flipV="1">
            <a:off x="7448061" y="1446250"/>
            <a:ext cx="40801" cy="23054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Shape 112"/>
          <p:cNvSpPr/>
          <p:nvPr/>
        </p:nvSpPr>
        <p:spPr>
          <a:xfrm flipV="1">
            <a:off x="7488863" y="1426188"/>
            <a:ext cx="40801" cy="20063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Shape 113"/>
          <p:cNvSpPr/>
          <p:nvPr/>
        </p:nvSpPr>
        <p:spPr>
          <a:xfrm flipV="1">
            <a:off x="7529664" y="1408757"/>
            <a:ext cx="40801" cy="17430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Shape 114"/>
          <p:cNvSpPr/>
          <p:nvPr/>
        </p:nvSpPr>
        <p:spPr>
          <a:xfrm flipV="1">
            <a:off x="7570466" y="1393638"/>
            <a:ext cx="40801" cy="15119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Shape 115"/>
          <p:cNvSpPr/>
          <p:nvPr/>
        </p:nvSpPr>
        <p:spPr>
          <a:xfrm flipV="1">
            <a:off x="7611268" y="1380540"/>
            <a:ext cx="40801" cy="13098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Shape 116"/>
          <p:cNvSpPr/>
          <p:nvPr/>
        </p:nvSpPr>
        <p:spPr>
          <a:xfrm flipV="1">
            <a:off x="7652070" y="1369207"/>
            <a:ext cx="40801" cy="11333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9" name="Shape 117"/>
          <p:cNvSpPr/>
          <p:nvPr/>
        </p:nvSpPr>
        <p:spPr>
          <a:xfrm flipV="1">
            <a:off x="7692871" y="1359410"/>
            <a:ext cx="40801" cy="9797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Shape 118"/>
          <p:cNvSpPr/>
          <p:nvPr/>
        </p:nvSpPr>
        <p:spPr>
          <a:xfrm flipV="1">
            <a:off x="7733673" y="1350949"/>
            <a:ext cx="40801" cy="8461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Shape 119"/>
          <p:cNvSpPr/>
          <p:nvPr/>
        </p:nvSpPr>
        <p:spPr>
          <a:xfrm flipV="1">
            <a:off x="7774475" y="1343647"/>
            <a:ext cx="40801" cy="7302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2" name="Shape 120"/>
          <p:cNvSpPr/>
          <p:nvPr/>
        </p:nvSpPr>
        <p:spPr>
          <a:xfrm flipV="1">
            <a:off x="7815277" y="1337348"/>
            <a:ext cx="40801" cy="6298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3" name="Shape 121"/>
          <p:cNvSpPr/>
          <p:nvPr/>
        </p:nvSpPr>
        <p:spPr>
          <a:xfrm flipV="1">
            <a:off x="7856079" y="1331919"/>
            <a:ext cx="40801" cy="5429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4" name="Shape 122"/>
          <p:cNvSpPr/>
          <p:nvPr/>
        </p:nvSpPr>
        <p:spPr>
          <a:xfrm flipV="1">
            <a:off x="7896880" y="1327241"/>
            <a:ext cx="40801" cy="4678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5" name="Shape 123"/>
          <p:cNvSpPr/>
          <p:nvPr/>
        </p:nvSpPr>
        <p:spPr>
          <a:xfrm flipV="1">
            <a:off x="7937682" y="1323212"/>
            <a:ext cx="40801" cy="4029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6" name="Shape 124"/>
          <p:cNvSpPr/>
          <p:nvPr/>
        </p:nvSpPr>
        <p:spPr>
          <a:xfrm flipV="1">
            <a:off x="7978484" y="1319743"/>
            <a:ext cx="40801" cy="3469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7" name="Shape 125"/>
          <p:cNvSpPr/>
          <p:nvPr/>
        </p:nvSpPr>
        <p:spPr>
          <a:xfrm flipV="1">
            <a:off x="8019286" y="1316759"/>
            <a:ext cx="40801" cy="2985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Shape 126"/>
          <p:cNvSpPr/>
          <p:nvPr/>
        </p:nvSpPr>
        <p:spPr>
          <a:xfrm flipV="1">
            <a:off x="8060087" y="1314190"/>
            <a:ext cx="40801" cy="2569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9" name="Shape 127"/>
          <p:cNvSpPr/>
          <p:nvPr/>
        </p:nvSpPr>
        <p:spPr>
          <a:xfrm flipV="1">
            <a:off x="8100889" y="1311980"/>
            <a:ext cx="40801" cy="2210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0" name="Shape 128"/>
          <p:cNvSpPr/>
          <p:nvPr/>
        </p:nvSpPr>
        <p:spPr>
          <a:xfrm flipV="1">
            <a:off x="8141691" y="1310079"/>
            <a:ext cx="40801" cy="1901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1" name="Shape 129"/>
          <p:cNvSpPr/>
          <p:nvPr/>
        </p:nvSpPr>
        <p:spPr>
          <a:xfrm flipV="1">
            <a:off x="8182493" y="1308445"/>
            <a:ext cx="40801" cy="1634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2" name="Shape 130"/>
          <p:cNvSpPr/>
          <p:nvPr/>
        </p:nvSpPr>
        <p:spPr>
          <a:xfrm flipV="1">
            <a:off x="8223294" y="1307040"/>
            <a:ext cx="40801" cy="1405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3" name="Shape 131"/>
          <p:cNvSpPr/>
          <p:nvPr/>
        </p:nvSpPr>
        <p:spPr>
          <a:xfrm>
            <a:off x="5006465" y="4727448"/>
            <a:ext cx="68581" cy="91440"/>
          </a:xfrm>
          <a:prstGeom prst="ellipse">
            <a:avLst/>
          </a:prstGeom>
          <a:solidFill>
            <a:srgbClr val="2563EB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4" name="Shape 132"/>
          <p:cNvSpPr/>
          <p:nvPr/>
        </p:nvSpPr>
        <p:spPr>
          <a:xfrm>
            <a:off x="5651133" y="4727448"/>
            <a:ext cx="68581" cy="91440"/>
          </a:xfrm>
          <a:prstGeom prst="ellipse">
            <a:avLst/>
          </a:prstGeom>
          <a:solidFill>
            <a:srgbClr val="2563EB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5" name="Shape 133"/>
          <p:cNvSpPr/>
          <p:nvPr/>
        </p:nvSpPr>
        <p:spPr>
          <a:xfrm>
            <a:off x="6295801" y="4727448"/>
            <a:ext cx="68581" cy="91440"/>
          </a:xfrm>
          <a:prstGeom prst="ellipse">
            <a:avLst/>
          </a:prstGeom>
          <a:solidFill>
            <a:srgbClr val="2563EB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6" name="Shape 134"/>
          <p:cNvSpPr/>
          <p:nvPr/>
        </p:nvSpPr>
        <p:spPr>
          <a:xfrm>
            <a:off x="6940469" y="1252728"/>
            <a:ext cx="68581" cy="91440"/>
          </a:xfrm>
          <a:prstGeom prst="ellipse">
            <a:avLst/>
          </a:prstGeom>
          <a:solidFill>
            <a:srgbClr val="16A34A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Shape 135"/>
          <p:cNvSpPr/>
          <p:nvPr/>
        </p:nvSpPr>
        <p:spPr>
          <a:xfrm>
            <a:off x="7585137" y="1252728"/>
            <a:ext cx="68581" cy="91440"/>
          </a:xfrm>
          <a:prstGeom prst="ellipse">
            <a:avLst/>
          </a:prstGeom>
          <a:solidFill>
            <a:srgbClr val="16A34A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8" name="Shape 136"/>
          <p:cNvSpPr/>
          <p:nvPr/>
        </p:nvSpPr>
        <p:spPr>
          <a:xfrm>
            <a:off x="8229805" y="1252728"/>
            <a:ext cx="68581" cy="91440"/>
          </a:xfrm>
          <a:prstGeom prst="ellipse">
            <a:avLst/>
          </a:prstGeom>
          <a:solidFill>
            <a:srgbClr val="16A34A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9" name="Shape 137"/>
          <p:cNvSpPr/>
          <p:nvPr/>
        </p:nvSpPr>
        <p:spPr>
          <a:xfrm>
            <a:off x="6652426" y="1252728"/>
            <a:ext cx="0" cy="3611880"/>
          </a:xfrm>
          <a:prstGeom prst="line">
            <a:avLst/>
          </a:prstGeom>
          <a:noFill/>
          <a:ln w="1143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0" name="Text 138"/>
          <p:cNvSpPr/>
          <p:nvPr/>
        </p:nvSpPr>
        <p:spPr>
          <a:xfrm>
            <a:off x="6734724" y="2931566"/>
            <a:ext cx="51436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F172A"/>
                </a:solidFill>
                <a:latin typeface="DejaVu Sans" pitchFamily="34" charset="0"/>
                <a:ea typeface="Malgun Gothic" pitchFamily="34" charset="-122"/>
                <a:cs typeface="Malgun Gothic" pitchFamily="34" charset="-120"/>
              </a:rPr>
              <a:t>ŷ = 0.5</a:t>
            </a:r>
            <a:endParaRPr lang="en-US" sz="750" dirty="0"/>
          </a:p>
        </p:txBody>
      </p:sp>
      <p:sp>
        <p:nvSpPr>
          <p:cNvPr id="141" name="Text 139"/>
          <p:cNvSpPr/>
          <p:nvPr/>
        </p:nvSpPr>
        <p:spPr>
          <a:xfrm>
            <a:off x="4903592" y="5074920"/>
            <a:ext cx="15773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Final discussion question</a:t>
            </a:r>
            <a:endParaRPr lang="en-US" sz="1400" dirty="0"/>
          </a:p>
        </p:txBody>
      </p:sp>
      <p:sp>
        <p:nvSpPr>
          <p:cNvPr id="142" name="Text 140"/>
          <p:cNvSpPr/>
          <p:nvPr/>
        </p:nvSpPr>
        <p:spPr>
          <a:xfrm>
            <a:off x="4903592" y="5404104"/>
            <a:ext cx="35662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Do these three programs train different neural networks?</a:t>
            </a:r>
            <a:endParaRPr lang="en-US" sz="1220" dirty="0"/>
          </a:p>
          <a:p>
            <a:r>
              <a:rPr lang="en-US" sz="1220" dirty="0">
                <a:solidFill>
                  <a:srgbClr val="475569"/>
                </a:solidFill>
                <a:latin typeface="Arial" pitchFamily="34" charset="0"/>
                <a:ea typeface="Malgun Gothic" pitchFamily="34" charset="-122"/>
                <a:cs typeface="Malgun Gothic" pitchFamily="34" charset="-120"/>
              </a:rPr>
              <a:t>No. They implement the same model at different levels of abstraction.</a:t>
            </a:r>
          </a:p>
        </p:txBody>
      </p:sp>
    </p:spTree>
    <p:extLst>
      <p:ext uri="{BB962C8B-B14F-4D97-AF65-F5344CB8AC3E}">
        <p14:creationId xmlns:p14="http://schemas.microsoft.com/office/powerpoint/2010/main" val="2614738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2679</Words>
  <Application>Microsoft Office PowerPoint</Application>
  <PresentationFormat>화면 슬라이드 쇼(4:3)</PresentationFormat>
  <Paragraphs>434</Paragraphs>
  <Slides>26</Slides>
  <Notes>15</Notes>
  <HiddenSlides>0</HiddenSlides>
  <MMClips>0</MMClips>
  <ScaleCrop>false</ScaleCrop>
  <HeadingPairs>
    <vt:vector size="8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40" baseType="lpstr">
      <vt:lpstr>Courier</vt:lpstr>
      <vt:lpstr>DejaVu Sans</vt:lpstr>
      <vt:lpstr>KoPub돋움체_Pro Medium</vt:lpstr>
      <vt:lpstr>굴림</vt:lpstr>
      <vt:lpstr>나눔고딕</vt:lpstr>
      <vt:lpstr>나눔고딕</vt:lpstr>
      <vt:lpstr>Malgun Gothic</vt:lpstr>
      <vt:lpstr>Malgun Gothic</vt:lpstr>
      <vt:lpstr>Arial</vt:lpstr>
      <vt:lpstr>Cambria Math</vt:lpstr>
      <vt:lpstr>Consolas</vt:lpstr>
      <vt:lpstr>Times New Roman</vt:lpstr>
      <vt:lpstr>Office Theme</vt:lpstr>
      <vt:lpstr>Equation</vt:lpstr>
      <vt:lpstr>PowerPoint 프레젠테이션</vt:lpstr>
      <vt:lpstr>PowerPoint 프레젠테이션</vt:lpstr>
      <vt:lpstr>3. Solving the XOR Problem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Sigmoid + MSE Gradient Derivation</dc:title>
  <dc:subject>MSE gradient for sigmoid logistic model</dc:subject>
  <dc:creator>OpenAI</dc:creator>
  <cp:lastModifiedBy>Administrator</cp:lastModifiedBy>
  <cp:revision>22</cp:revision>
  <dcterms:created xsi:type="dcterms:W3CDTF">2026-09-27T14:34:08Z</dcterms:created>
  <dcterms:modified xsi:type="dcterms:W3CDTF">2026-10-08T06:43:26Z</dcterms:modified>
</cp:coreProperties>
</file>